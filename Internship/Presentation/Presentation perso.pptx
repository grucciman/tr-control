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A_E5B40B2D.xml" ContentType="application/vnd.ms-powerpoint.comments+xml"/>
  <Override PartName="/ppt/comments/modernComment_111_D1EFDCC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1" r:id="rId2"/>
    <p:sldId id="296" r:id="rId3"/>
    <p:sldId id="283" r:id="rId4"/>
    <p:sldId id="282" r:id="rId5"/>
    <p:sldId id="264" r:id="rId6"/>
    <p:sldId id="266" r:id="rId7"/>
    <p:sldId id="285" r:id="rId8"/>
    <p:sldId id="286" r:id="rId9"/>
    <p:sldId id="280" r:id="rId10"/>
    <p:sldId id="274" r:id="rId11"/>
    <p:sldId id="279" r:id="rId12"/>
    <p:sldId id="275" r:id="rId13"/>
    <p:sldId id="287" r:id="rId14"/>
    <p:sldId id="289" r:id="rId15"/>
    <p:sldId id="288" r:id="rId16"/>
    <p:sldId id="278" r:id="rId17"/>
    <p:sldId id="269" r:id="rId18"/>
    <p:sldId id="273" r:id="rId19"/>
    <p:sldId id="272" r:id="rId20"/>
    <p:sldId id="281" r:id="rId21"/>
    <p:sldId id="277" r:id="rId22"/>
    <p:sldId id="292" r:id="rId23"/>
    <p:sldId id="293" r:id="rId24"/>
    <p:sldId id="294" r:id="rId25"/>
    <p:sldId id="290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D1E1F5-AA0E-40E0-926A-FB8FCEF4FEFE}" name="Eliot Delachaux" initials="ED" userId="3bab0c6560e7c5c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9AD93A"/>
    <a:srgbClr val="F5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91" autoAdjust="0"/>
    <p:restoredTop sz="94660"/>
  </p:normalViewPr>
  <p:slideViewPr>
    <p:cSldViewPr snapToGrid="0">
      <p:cViewPr>
        <p:scale>
          <a:sx n="75" d="100"/>
          <a:sy n="75" d="100"/>
        </p:scale>
        <p:origin x="19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omments/modernComment_10A_E5B40B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D62AB5-1274-4E37-8E4E-E44BE8742E41}" authorId="{9ED1E1F5-AA0E-40E0-926A-FB8FCEF4FEFE}" created="2026-02-04T15:37:31.505">
    <pc:sldMkLst xmlns:pc="http://schemas.microsoft.com/office/powerpoint/2013/main/command">
      <pc:docMk/>
      <pc:sldMk cId="3853781805" sldId="266"/>
    </pc:sldMkLst>
    <p188:txBody>
      <a:bodyPr/>
      <a:lstStyle/>
      <a:p>
        <a:r>
          <a:rPr lang="en-GB"/>
          <a:t>\begin{array}{l}
\textbf{1. Spectral Decomposition (Operator View)} \\
\quad A = \sum_i \lambda_i |\psi_i\rangle \langle \psi_i| \quad \text{with} \quad |\lambda_0| \le \dots &lt; \mathbf{|\lambda_{max}|} \\[1em]
\textbf{2. Initial State Expansion} \\
\quad |\Psi^{(0)}\rangle = c_{max}|\psi_{max}\rangle + \sum_{i \neq max} c_i |\psi_i\rangle \\[1em]
\textbf{3. Applying } A^n \text{ (Power Iteration)} \\
\quad A^n |\Psi^{(0)}\rangle = c_{max}\lambda_{max}^n |\psi_{max}\rangle + \sum_{i \neq max} c_i \lambda_i^n |\psi_i\rangle \\[1em]
\textbf{4. Factorization \&amp; Convergence} \\
\quad = \lambda_{max}^n \left[ c_{max}|\psi_{max}\rangle + \sum_{i \neq max} c_i \underbrace{\left( \frac{\lambda_i}{\lambda_{max}} \right)^n}_{\to 0 \text{ as } n \to \infty} |\psi_i\rangle \right] \\[1.5em]
\implies \mathbf{\lim_{n \to \infty} A^n |\Psi^{(0)}\rangle \propto |\psi_{max}\rangle}
\end{array}</a:t>
        </a:r>
      </a:p>
    </p188:txBody>
  </p188:cm>
</p188:cmLst>
</file>

<file path=ppt/comments/modernComment_111_D1EFDC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82DB97-16F2-473A-9FB2-9BB7BD5862E5}" authorId="{9ED1E1F5-AA0E-40E0-926A-FB8FCEF4FEFE}" created="2026-02-04T15:37:31.505">
    <pc:sldMkLst xmlns:pc="http://schemas.microsoft.com/office/powerpoint/2013/main/command">
      <pc:docMk/>
      <pc:sldMk cId="3853781805" sldId="266"/>
    </pc:sldMkLst>
    <p188:txBody>
      <a:bodyPr/>
      <a:lstStyle/>
      <a:p>
        <a:r>
          <a:rPr lang="en-GB"/>
          <a:t>\begin{array}{l}
\textbf{1. Spectral Decomposition (Operator View)} \\
\quad A = \sum_i \lambda_i |\psi_i\rangle \langle \psi_i| \quad \text{with} \quad |\lambda_0| \le \dots &lt; \mathbf{|\lambda_{max}|} \\[1em]
\textbf{2. Initial State Expansion} \\
\quad |\Psi^{(0)}\rangle = c_{max}|\psi_{max}\rangle + \sum_{i \neq max} c_i |\psi_i\rangle \\[1em]
\textbf{3. Applying } A^n \text{ (Power Iteration)} \\
\quad A^n |\Psi^{(0)}\rangle = c_{max}\lambda_{max}^n |\psi_{max}\rangle + \sum_{i \neq max} c_i \lambda_i^n |\psi_i\rangle \\[1em]
\textbf{4. Factorization \&amp; Convergence} \\
\quad = \lambda_{max}^n \left[ c_{max}|\psi_{max}\rangle + \sum_{i \neq max} c_i \underbrace{\left( \frac{\lambda_i}{\lambda_{max}} \right)^n}_{\to 0 \text{ as } n \to \infty} |\psi_i\rangle \right] \\[1.5em]
\implies \mathbf{\lim_{n \to \infty} A^n |\Psi^{(0)}\rangle \propto |\psi_{max}\rangle}
\end{array}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F6E85-C82F-49A6-9005-B7DE10D678C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801E-F17D-49F8-A5EE-5A04936997C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7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0801E-F17D-49F8-A5EE-5A04936997C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8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486C8-2360-A0FB-064D-DE3B61722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C05537-9866-5DEA-F20F-37822DAB7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4DF7D3-92FC-199F-FE83-718353F9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87D3-9968-404A-9E64-D06CB56F92AD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8AC210-43C7-8A89-E7C1-E4A849CF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A6008C-CE2F-565A-D1EF-478E6131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46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CAA02-EA4B-1F74-A783-76630FA9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DE7A10-8461-3834-87FC-0B51A25DD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705C86-A81F-B3ED-41D8-48C95EFE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AB8F-00B6-4C8E-857E-445ED3F6B710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EAEAA-B3AB-5AE3-2313-458A2F94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B529F5-AA08-FFCE-E832-A708D580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22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ECC6B-82BD-EEC3-CA0F-14C3467B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B2097B-593E-4932-B5D5-8BDEE7907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CA19FE-0627-448A-3908-FD96001D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EA6-BD60-4025-810D-BF1CEDEDA349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5DC14-DA1E-74B1-94B3-67A01631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3DD722-6DE3-8D01-2B70-C7F1C592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2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F5ADE-09F0-392D-A553-4CAD4BB1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96A50-5582-5784-F237-8EC201F74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90CB64-D7E8-52FB-755E-F0108A976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CF330B-B319-9835-BA2D-3C50AE7E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0CCB-3A37-40E7-9A04-260F27CA30E8}" type="datetime1">
              <a:rPr lang="en-GB" smtClean="0"/>
              <a:t>11/02/2026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7BD297-A89F-53F7-11FA-C648BE6B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E7D09A-53F8-878C-3D6B-FB406644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2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B5435-4A26-8DE5-970B-4D1FDE34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BC815B-D3BB-5B01-99A4-6555FFB3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AE98AB-8262-E13D-A0BB-20D6C6EAE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94BB66-F7D9-AD7C-696C-5F0CEBBDF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B9949E-8701-B768-A40F-08FC1A988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C679358-7122-3212-C79F-8969B4E2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96350-A82B-416A-B565-A120A9B536D1}" type="datetime1">
              <a:rPr lang="en-GB" smtClean="0"/>
              <a:t>11/02/2026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FBB486-99F6-4433-A2D2-9DE0BF05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F028135-21EA-5D89-8F0D-E97EEC2A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97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52A82-7744-EB8D-6281-3810B3E7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134732-89C8-AE09-B54B-D2FEC900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9D59-069C-43BA-BD96-3097CDE075DD}" type="datetime1">
              <a:rPr lang="en-GB" smtClean="0"/>
              <a:t>11/02/2026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7EA66A-63BA-41AC-93C3-01EB9F95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DB61F5-327D-5FC0-FFC2-FCE3C4EF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36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BD3CA2E-09FA-86F3-2CCB-A0A1F6CD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E7E-450D-4161-BC81-869C9970F18E}" type="datetime1">
              <a:rPr lang="en-GB" smtClean="0"/>
              <a:t>11/02/2026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C8BD98-73A2-F3BA-0A1B-AEA81257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0D90B8-AA99-665E-0C29-4733977A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76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4A608-9BDA-65FA-1F95-FE95B1E6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96F37-CBD8-03AB-BB02-D749E90CE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0E382A-C2C7-6122-5106-7FF94E375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68DFCD-53BB-8741-309A-2C3A32E6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2BA3-57C5-4B2D-8292-030AD596479A}" type="datetime1">
              <a:rPr lang="en-GB" smtClean="0"/>
              <a:t>11/02/2026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F98D6-9D8A-CE22-F1F5-30813D77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5D3C8C-9E44-BF82-824C-7C48F1B6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4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0A87F-17DD-80BB-42A4-19EF2C5B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58E8DD-3FF0-5C8F-8B78-3F2810246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F9C71F-563C-EFA9-B446-E4C39BF1F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F452B2-1D6F-BC2F-6B41-51803336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1A95-2ED0-4864-AAE3-B61248B294E8}" type="datetime1">
              <a:rPr lang="en-GB" smtClean="0"/>
              <a:t>11/02/2026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07CF63-0BA2-AB4E-D936-30C92C1D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D75A21-00EB-98DC-77A5-BEA8DB24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39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F4A48-1AB0-CD09-EB6C-F080D444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EDBA4B-78A7-807F-B2B6-555394B33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A7F4F1-FAEA-21CA-3391-6C396326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072-DC44-4A6D-94EF-E7F5B48B1F32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9063D9-A135-DFDA-7CCB-38A762D3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EF649-AB16-2FDE-D34C-178A89F2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2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33FCFD-BCF9-05FD-1BB2-E3FDAFC01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6BEE64-AF30-29CD-E1BA-7BC61E35A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A960A3-1B7C-F23D-A50B-F30A029E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7C699-A5DE-4829-A378-6C5ACC91C6FF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9EDF6E-DEBB-EDF8-5B7F-E315DAB0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831018-B2D0-DEBC-C84E-F7E7A7C7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73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7FB282-4A99-8BB3-1937-DB1744C6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EAAEA2-36B8-23F6-49E2-5ACD4707C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3E947E-E5C3-EAC0-12F5-E6C975967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50BA2-1B6C-4211-868B-31F7D1F80E78}" type="datetime1">
              <a:rPr lang="en-GB" smtClean="0"/>
              <a:t>11/02/2026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D0A492-6B92-58A6-A3AC-86759D0CF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831E69-3ED7-C8A0-15C0-C0AE3BA81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85361-CE05-4AF2-B8B9-763ED17744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4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A_E5B40B2D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0.png"/><Relationship Id="rId18" Type="http://schemas.openxmlformats.org/officeDocument/2006/relationships/image" Target="../media/image21.png"/><Relationship Id="rId21" Type="http://schemas.openxmlformats.org/officeDocument/2006/relationships/image" Target="../media/image24.png"/><Relationship Id="rId7" Type="http://schemas.openxmlformats.org/officeDocument/2006/relationships/image" Target="../media/image13.png"/><Relationship Id="rId12" Type="http://schemas.openxmlformats.org/officeDocument/2006/relationships/image" Target="../media/image9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6.png"/><Relationship Id="rId19" Type="http://schemas.openxmlformats.org/officeDocument/2006/relationships/image" Target="../media/image22.png"/><Relationship Id="rId9" Type="http://schemas.openxmlformats.org/officeDocument/2006/relationships/image" Target="../media/image15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0.png"/><Relationship Id="rId3" Type="http://schemas.openxmlformats.org/officeDocument/2006/relationships/image" Target="../media/image28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24" Type="http://schemas.openxmlformats.org/officeDocument/2006/relationships/image" Target="../media/image26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24.png"/><Relationship Id="rId10" Type="http://schemas.openxmlformats.org/officeDocument/2006/relationships/image" Target="../media/image16.png"/><Relationship Id="rId19" Type="http://schemas.openxmlformats.org/officeDocument/2006/relationships/image" Target="../media/image250.png"/><Relationship Id="rId4" Type="http://schemas.openxmlformats.org/officeDocument/2006/relationships/image" Target="../media/image29.png"/><Relationship Id="rId9" Type="http://schemas.openxmlformats.org/officeDocument/2006/relationships/image" Target="../media/image15.png"/><Relationship Id="rId14" Type="http://schemas.openxmlformats.org/officeDocument/2006/relationships/image" Target="../media/image17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microsoft.com/office/2018/10/relationships/comments" Target="../comments/modernComment_111_D1EFDCCF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sv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9E77-26A4-FCC1-F02C-97CD1AA0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6BC2B6E-D425-CE9E-7DD2-275178F00196}"/>
              </a:ext>
            </a:extLst>
          </p:cNvPr>
          <p:cNvSpPr>
            <a:spLocks noGrp="1"/>
          </p:cNvSpPr>
          <p:nvPr/>
        </p:nvSpPr>
        <p:spPr>
          <a:xfrm>
            <a:off x="851165" y="0"/>
            <a:ext cx="10167937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Krylov solver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83AD5C-4F0C-0ACC-4D09-F875C3B4BF49}"/>
              </a:ext>
            </a:extLst>
          </p:cNvPr>
          <p:cNvSpPr/>
          <p:nvPr/>
        </p:nvSpPr>
        <p:spPr>
          <a:xfrm>
            <a:off x="520514" y="348162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 descr="Une image contenant texte, capture d’écran, graphisme, Graphique&#10;&#10;Le contenu généré par l’IA peut être incorrect.">
            <a:extLst>
              <a:ext uri="{FF2B5EF4-FFF2-40B4-BE49-F238E27FC236}">
                <a16:creationId xmlns:a16="http://schemas.microsoft.com/office/drawing/2014/main" id="{546A7796-9EB8-9D05-6921-EDFFDDAAE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43" t="9288" r="9800" b="72135"/>
          <a:stretch>
            <a:fillRect/>
          </a:stretch>
        </p:blipFill>
        <p:spPr>
          <a:xfrm>
            <a:off x="5557838" y="1195388"/>
            <a:ext cx="13652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2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A955-DA61-E086-94A2-6BADB485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8CCA50-1B24-A62B-E18E-7CA2ED377774}"/>
              </a:ext>
            </a:extLst>
          </p:cNvPr>
          <p:cNvSpPr>
            <a:spLocks noGrp="1"/>
          </p:cNvSpPr>
          <p:nvPr/>
        </p:nvSpPr>
        <p:spPr>
          <a:xfrm>
            <a:off x="851165" y="0"/>
            <a:ext cx="10167937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invert, Why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0A7D7C-BCA2-72A3-00ED-FC7A0E413A14}"/>
              </a:ext>
            </a:extLst>
          </p:cNvPr>
          <p:cNvSpPr/>
          <p:nvPr/>
        </p:nvSpPr>
        <p:spPr>
          <a:xfrm>
            <a:off x="520514" y="348162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Image 24" descr="Une image contenant texte, nombr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36020702-A60C-A314-1DDD-CDF112385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1" y="1346540"/>
            <a:ext cx="7009263" cy="457159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DD20175-6A25-C7F2-8C0A-532FA735EE1D}"/>
              </a:ext>
            </a:extLst>
          </p:cNvPr>
          <p:cNvSpPr txBox="1"/>
          <p:nvPr/>
        </p:nvSpPr>
        <p:spPr>
          <a:xfrm>
            <a:off x="7630016" y="1341915"/>
            <a:ext cx="376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highlight>
                  <a:srgbClr val="FFFF00"/>
                </a:highlight>
              </a:rPr>
              <a:t>Current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algorithm</a:t>
            </a:r>
            <a:r>
              <a:rPr lang="fr-FR" dirty="0">
                <a:highlight>
                  <a:srgbClr val="FFFF00"/>
                </a:highlight>
              </a:rPr>
              <a:t> : </a:t>
            </a:r>
            <a:r>
              <a:rPr lang="fr-FR" dirty="0" err="1">
                <a:highlight>
                  <a:srgbClr val="FFFF00"/>
                </a:highlight>
              </a:rPr>
              <a:t>Lanczos</a:t>
            </a:r>
            <a:r>
              <a:rPr lang="fr-FR" dirty="0">
                <a:highlight>
                  <a:srgbClr val="FFFF00"/>
                </a:highlight>
              </a:rPr>
              <a:t> Solver</a:t>
            </a:r>
          </a:p>
        </p:txBody>
      </p:sp>
    </p:spTree>
    <p:extLst>
      <p:ext uri="{BB962C8B-B14F-4D97-AF65-F5344CB8AC3E}">
        <p14:creationId xmlns:p14="http://schemas.microsoft.com/office/powerpoint/2010/main" val="238151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4827-A304-DA08-3CD2-8239A068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2EDE6A1-1760-2844-9423-2851A6BF0E96}"/>
              </a:ext>
            </a:extLst>
          </p:cNvPr>
          <p:cNvSpPr>
            <a:spLocks noGrp="1"/>
          </p:cNvSpPr>
          <p:nvPr/>
        </p:nvSpPr>
        <p:spPr>
          <a:xfrm>
            <a:off x="851165" y="0"/>
            <a:ext cx="10167937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invert, Why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FCE54D-65FF-6E91-3196-445AC354E5BF}"/>
              </a:ext>
            </a:extLst>
          </p:cNvPr>
          <p:cNvSpPr/>
          <p:nvPr/>
        </p:nvSpPr>
        <p:spPr>
          <a:xfrm>
            <a:off x="520514" y="348162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Image 24" descr="Une image contenant texte, nombr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DD17B697-4D5B-669D-761D-6E05B5ED6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1" y="1346540"/>
            <a:ext cx="7009263" cy="457159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1D57FD5-44EA-414F-07C9-2DAC8A859CB5}"/>
              </a:ext>
            </a:extLst>
          </p:cNvPr>
          <p:cNvSpPr txBox="1"/>
          <p:nvPr/>
        </p:nvSpPr>
        <p:spPr>
          <a:xfrm>
            <a:off x="7630016" y="1341915"/>
            <a:ext cx="376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highlight>
                  <a:srgbClr val="FFFF00"/>
                </a:highlight>
              </a:rPr>
              <a:t>Current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algorithm</a:t>
            </a:r>
            <a:r>
              <a:rPr lang="fr-FR" dirty="0">
                <a:highlight>
                  <a:srgbClr val="FFFF00"/>
                </a:highlight>
              </a:rPr>
              <a:t> : Krylov Solver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A1C953C-1BC9-4F8F-A1B6-F9469FE3F0CA}"/>
              </a:ext>
            </a:extLst>
          </p:cNvPr>
          <p:cNvSpPr txBox="1"/>
          <p:nvPr/>
        </p:nvSpPr>
        <p:spPr>
          <a:xfrm>
            <a:off x="7053010" y="2126382"/>
            <a:ext cx="496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 issues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0F44C78-232F-CFE6-1FC4-050375D63B10}"/>
              </a:ext>
            </a:extLst>
          </p:cNvPr>
          <p:cNvSpPr txBox="1"/>
          <p:nvPr/>
        </p:nvSpPr>
        <p:spPr>
          <a:xfrm>
            <a:off x="6472766" y="25750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b="1" dirty="0"/>
          </a:p>
          <a:p>
            <a:pPr algn="ctr"/>
            <a:r>
              <a:rPr lang="fr-FR" u="sng" dirty="0" err="1"/>
              <a:t>Climbing</a:t>
            </a:r>
            <a:r>
              <a:rPr lang="fr-FR" u="sng" dirty="0"/>
              <a:t> the </a:t>
            </a:r>
            <a:r>
              <a:rPr lang="fr-FR" u="sng" dirty="0" err="1"/>
              <a:t>whole</a:t>
            </a:r>
            <a:r>
              <a:rPr lang="fr-FR" u="sng" dirty="0"/>
              <a:t> </a:t>
            </a:r>
            <a:r>
              <a:rPr lang="fr-FR" u="sng" dirty="0" err="1"/>
              <a:t>spectrum</a:t>
            </a:r>
            <a:endParaRPr lang="fr-FR" u="sng" dirty="0"/>
          </a:p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500C32D-B6B9-F8C8-7923-DBACF247E262}"/>
                  </a:ext>
                </a:extLst>
              </p:cNvPr>
              <p:cNvSpPr txBox="1"/>
              <p:nvPr/>
            </p:nvSpPr>
            <p:spPr>
              <a:xfrm>
                <a:off x="6472766" y="3266332"/>
                <a:ext cx="63790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/>
                  <a:t>To have n-th state : </a:t>
                </a:r>
                <a:r>
                  <a:rPr lang="fr-FR" dirty="0" err="1"/>
                  <a:t>compute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n is big for readout</a:t>
                </a: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500C32D-B6B9-F8C8-7923-DBACF247E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66" y="3266332"/>
                <a:ext cx="6379028" cy="646331"/>
              </a:xfrm>
              <a:prstGeom prst="rect">
                <a:avLst/>
              </a:prstGeom>
              <a:blipFill>
                <a:blip r:embed="rId3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1540C93E-3BED-7C9E-A627-3FE521000C22}"/>
              </a:ext>
            </a:extLst>
          </p:cNvPr>
          <p:cNvSpPr/>
          <p:nvPr/>
        </p:nvSpPr>
        <p:spPr>
          <a:xfrm>
            <a:off x="6625652" y="4631961"/>
            <a:ext cx="135084" cy="502170"/>
          </a:xfrm>
          <a:custGeom>
            <a:avLst/>
            <a:gdLst>
              <a:gd name="csX0" fmla="*/ 0 w 135084"/>
              <a:gd name="csY0" fmla="*/ 502170 h 502170"/>
              <a:gd name="csX1" fmla="*/ 134912 w 135084"/>
              <a:gd name="csY1" fmla="*/ 277318 h 502170"/>
              <a:gd name="csX2" fmla="*/ 22486 w 135084"/>
              <a:gd name="csY2" fmla="*/ 0 h 50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084" h="502170">
                <a:moveTo>
                  <a:pt x="0" y="502170"/>
                </a:moveTo>
                <a:cubicBezTo>
                  <a:pt x="65582" y="431591"/>
                  <a:pt x="131164" y="361013"/>
                  <a:pt x="134912" y="277318"/>
                </a:cubicBezTo>
                <a:cubicBezTo>
                  <a:pt x="138660" y="193623"/>
                  <a:pt x="80573" y="96811"/>
                  <a:pt x="22486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B74C02E4-B38F-B7FB-E368-EC8147D62820}"/>
              </a:ext>
            </a:extLst>
          </p:cNvPr>
          <p:cNvSpPr/>
          <p:nvPr/>
        </p:nvSpPr>
        <p:spPr>
          <a:xfrm>
            <a:off x="6625652" y="3912663"/>
            <a:ext cx="135084" cy="502170"/>
          </a:xfrm>
          <a:custGeom>
            <a:avLst/>
            <a:gdLst>
              <a:gd name="csX0" fmla="*/ 0 w 135084"/>
              <a:gd name="csY0" fmla="*/ 502170 h 502170"/>
              <a:gd name="csX1" fmla="*/ 134912 w 135084"/>
              <a:gd name="csY1" fmla="*/ 277318 h 502170"/>
              <a:gd name="csX2" fmla="*/ 22486 w 135084"/>
              <a:gd name="csY2" fmla="*/ 0 h 50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084" h="502170">
                <a:moveTo>
                  <a:pt x="0" y="502170"/>
                </a:moveTo>
                <a:cubicBezTo>
                  <a:pt x="65582" y="431591"/>
                  <a:pt x="131164" y="361013"/>
                  <a:pt x="134912" y="277318"/>
                </a:cubicBezTo>
                <a:cubicBezTo>
                  <a:pt x="138660" y="193623"/>
                  <a:pt x="80573" y="96811"/>
                  <a:pt x="22486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B4DF9178-6FE4-5667-F08C-48229F7B08C0}"/>
              </a:ext>
            </a:extLst>
          </p:cNvPr>
          <p:cNvSpPr/>
          <p:nvPr/>
        </p:nvSpPr>
        <p:spPr>
          <a:xfrm>
            <a:off x="6625652" y="3177915"/>
            <a:ext cx="135084" cy="502170"/>
          </a:xfrm>
          <a:custGeom>
            <a:avLst/>
            <a:gdLst>
              <a:gd name="csX0" fmla="*/ 0 w 135084"/>
              <a:gd name="csY0" fmla="*/ 502170 h 502170"/>
              <a:gd name="csX1" fmla="*/ 134912 w 135084"/>
              <a:gd name="csY1" fmla="*/ 277318 h 502170"/>
              <a:gd name="csX2" fmla="*/ 22486 w 135084"/>
              <a:gd name="csY2" fmla="*/ 0 h 50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084" h="502170">
                <a:moveTo>
                  <a:pt x="0" y="502170"/>
                </a:moveTo>
                <a:cubicBezTo>
                  <a:pt x="65582" y="431591"/>
                  <a:pt x="131164" y="361013"/>
                  <a:pt x="134912" y="277318"/>
                </a:cubicBezTo>
                <a:cubicBezTo>
                  <a:pt x="138660" y="193623"/>
                  <a:pt x="80573" y="96811"/>
                  <a:pt x="22486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04E5EDC4-2BA8-2070-C426-0289239712FD}"/>
              </a:ext>
            </a:extLst>
          </p:cNvPr>
          <p:cNvSpPr/>
          <p:nvPr/>
        </p:nvSpPr>
        <p:spPr>
          <a:xfrm>
            <a:off x="6625652" y="2534548"/>
            <a:ext cx="135084" cy="502170"/>
          </a:xfrm>
          <a:custGeom>
            <a:avLst/>
            <a:gdLst>
              <a:gd name="csX0" fmla="*/ 0 w 135084"/>
              <a:gd name="csY0" fmla="*/ 502170 h 502170"/>
              <a:gd name="csX1" fmla="*/ 134912 w 135084"/>
              <a:gd name="csY1" fmla="*/ 277318 h 502170"/>
              <a:gd name="csX2" fmla="*/ 22486 w 135084"/>
              <a:gd name="csY2" fmla="*/ 0 h 50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084" h="502170">
                <a:moveTo>
                  <a:pt x="0" y="502170"/>
                </a:moveTo>
                <a:cubicBezTo>
                  <a:pt x="65582" y="431591"/>
                  <a:pt x="131164" y="361013"/>
                  <a:pt x="134912" y="277318"/>
                </a:cubicBezTo>
                <a:cubicBezTo>
                  <a:pt x="138660" y="193623"/>
                  <a:pt x="80573" y="96811"/>
                  <a:pt x="22486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50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FC6B-7510-C0C3-882F-9E87DE12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E6F1E83-D6DD-09F8-2796-93DB204B3EBC}"/>
              </a:ext>
            </a:extLst>
          </p:cNvPr>
          <p:cNvSpPr>
            <a:spLocks noGrp="1"/>
          </p:cNvSpPr>
          <p:nvPr/>
        </p:nvSpPr>
        <p:spPr>
          <a:xfrm>
            <a:off x="851165" y="0"/>
            <a:ext cx="10167937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invert, Why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01C2FA-C903-B49C-ADD1-5DAD33CA1DB2}"/>
              </a:ext>
            </a:extLst>
          </p:cNvPr>
          <p:cNvSpPr/>
          <p:nvPr/>
        </p:nvSpPr>
        <p:spPr>
          <a:xfrm>
            <a:off x="520514" y="348162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Image 24" descr="Une image contenant texte, nombr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CE2D9C50-D54B-E668-1222-8C11A90FE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1" y="1346540"/>
            <a:ext cx="7009263" cy="457159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5C2AD02E-B2B3-E742-05AF-EB57FA93F1C3}"/>
              </a:ext>
            </a:extLst>
          </p:cNvPr>
          <p:cNvSpPr txBox="1"/>
          <p:nvPr/>
        </p:nvSpPr>
        <p:spPr>
          <a:xfrm>
            <a:off x="7630016" y="1341915"/>
            <a:ext cx="376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highlight>
                  <a:srgbClr val="FFFF00"/>
                </a:highlight>
              </a:rPr>
              <a:t>Current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algorithm</a:t>
            </a:r>
            <a:r>
              <a:rPr lang="fr-FR" dirty="0">
                <a:highlight>
                  <a:srgbClr val="FFFF00"/>
                </a:highlight>
              </a:rPr>
              <a:t> : Krylov Solver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D8B07F9-FE5A-8483-07F2-2ECAD4E9A9E1}"/>
              </a:ext>
            </a:extLst>
          </p:cNvPr>
          <p:cNvSpPr txBox="1"/>
          <p:nvPr/>
        </p:nvSpPr>
        <p:spPr>
          <a:xfrm>
            <a:off x="7053010" y="2126382"/>
            <a:ext cx="496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 issues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6C6B44F-661B-1FB0-C334-C31108F24AD0}"/>
              </a:ext>
            </a:extLst>
          </p:cNvPr>
          <p:cNvSpPr txBox="1"/>
          <p:nvPr/>
        </p:nvSpPr>
        <p:spPr>
          <a:xfrm>
            <a:off x="6472766" y="25750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b="1" dirty="0"/>
          </a:p>
          <a:p>
            <a:pPr algn="ctr"/>
            <a:r>
              <a:rPr lang="fr-FR" u="sng" dirty="0" err="1"/>
              <a:t>Climbing</a:t>
            </a:r>
            <a:r>
              <a:rPr lang="fr-FR" u="sng" dirty="0"/>
              <a:t> the </a:t>
            </a:r>
            <a:r>
              <a:rPr lang="fr-FR" u="sng" dirty="0" err="1"/>
              <a:t>whole</a:t>
            </a:r>
            <a:r>
              <a:rPr lang="fr-FR" u="sng" dirty="0"/>
              <a:t> </a:t>
            </a:r>
            <a:r>
              <a:rPr lang="fr-FR" u="sng" dirty="0" err="1"/>
              <a:t>spectrum</a:t>
            </a:r>
            <a:endParaRPr lang="fr-FR" u="sng" dirty="0"/>
          </a:p>
          <a:p>
            <a:pPr algn="ctr"/>
            <a:endParaRPr lang="fr-FR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7010109-48D8-C2CC-E9ED-9A2147E639E6}"/>
              </a:ext>
            </a:extLst>
          </p:cNvPr>
          <p:cNvSpPr/>
          <p:nvPr/>
        </p:nvSpPr>
        <p:spPr>
          <a:xfrm>
            <a:off x="5527674" y="1662560"/>
            <a:ext cx="290286" cy="37129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AD6247B-F66F-3892-F0BF-2DC7FC58DA76}"/>
              </a:ext>
            </a:extLst>
          </p:cNvPr>
          <p:cNvSpPr/>
          <p:nvPr/>
        </p:nvSpPr>
        <p:spPr>
          <a:xfrm>
            <a:off x="6182480" y="1676623"/>
            <a:ext cx="290286" cy="37123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C8248E-0A33-9836-4255-28458DA404C7}"/>
              </a:ext>
            </a:extLst>
          </p:cNvPr>
          <p:cNvSpPr txBox="1"/>
          <p:nvPr/>
        </p:nvSpPr>
        <p:spPr>
          <a:xfrm>
            <a:off x="5021121" y="5832613"/>
            <a:ext cx="2010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err="1">
                <a:solidFill>
                  <a:srgbClr val="FF0000"/>
                </a:solidFill>
              </a:rPr>
              <a:t>Independant</a:t>
            </a:r>
            <a:endParaRPr lang="fr-FR" sz="1600" dirty="0">
              <a:solidFill>
                <a:srgbClr val="FF0000"/>
              </a:solidFill>
            </a:endParaRPr>
          </a:p>
          <a:p>
            <a:pPr algn="ctr"/>
            <a:r>
              <a:rPr lang="fr-FR" sz="1600" dirty="0">
                <a:solidFill>
                  <a:srgbClr val="FF0000"/>
                </a:solidFill>
              </a:rPr>
              <a:t>computations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E16BCA38-E6D8-4076-9364-B6D3CC8D2811}"/>
              </a:ext>
            </a:extLst>
          </p:cNvPr>
          <p:cNvSpPr/>
          <p:nvPr/>
        </p:nvSpPr>
        <p:spPr>
          <a:xfrm rot="5151070">
            <a:off x="5921168" y="5484185"/>
            <a:ext cx="148740" cy="510454"/>
          </a:xfrm>
          <a:custGeom>
            <a:avLst/>
            <a:gdLst>
              <a:gd name="csX0" fmla="*/ 0 w 298072"/>
              <a:gd name="csY0" fmla="*/ 580571 h 580571"/>
              <a:gd name="csX1" fmla="*/ 297543 w 298072"/>
              <a:gd name="csY1" fmla="*/ 312057 h 580571"/>
              <a:gd name="csX2" fmla="*/ 58057 w 298072"/>
              <a:gd name="csY2" fmla="*/ 0 h 580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8072" h="580571">
                <a:moveTo>
                  <a:pt x="0" y="580571"/>
                </a:moveTo>
                <a:cubicBezTo>
                  <a:pt x="143933" y="494695"/>
                  <a:pt x="287867" y="408819"/>
                  <a:pt x="297543" y="312057"/>
                </a:cubicBezTo>
                <a:cubicBezTo>
                  <a:pt x="307219" y="215295"/>
                  <a:pt x="182638" y="107647"/>
                  <a:pt x="58057" y="0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DA09BD4-070E-A976-CFBC-269EF1A93E7F}"/>
                  </a:ext>
                </a:extLst>
              </p:cNvPr>
              <p:cNvSpPr txBox="1"/>
              <p:nvPr/>
            </p:nvSpPr>
            <p:spPr>
              <a:xfrm>
                <a:off x="6472766" y="3266332"/>
                <a:ext cx="63790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/>
                  <a:t>To have n-th state : </a:t>
                </a:r>
                <a:r>
                  <a:rPr lang="fr-FR" dirty="0" err="1"/>
                  <a:t>compute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n is big for readout</a:t>
                </a: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DA09BD4-070E-A976-CFBC-269EF1A93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66" y="3266332"/>
                <a:ext cx="6379028" cy="646331"/>
              </a:xfrm>
              <a:prstGeom prst="rect">
                <a:avLst/>
              </a:prstGeom>
              <a:blipFill>
                <a:blip r:embed="rId3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48D88414-40BB-FA81-E695-F8EC30B12D12}"/>
              </a:ext>
            </a:extLst>
          </p:cNvPr>
          <p:cNvGrpSpPr/>
          <p:nvPr/>
        </p:nvGrpSpPr>
        <p:grpSpPr>
          <a:xfrm>
            <a:off x="6472766" y="4062197"/>
            <a:ext cx="6096000" cy="1703873"/>
            <a:chOff x="6472766" y="3799729"/>
            <a:chExt cx="6096000" cy="170387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D973382-F2C3-47C6-B28C-96CFF0654A00}"/>
                </a:ext>
              </a:extLst>
            </p:cNvPr>
            <p:cNvSpPr txBox="1"/>
            <p:nvPr/>
          </p:nvSpPr>
          <p:spPr>
            <a:xfrm>
              <a:off x="6472766" y="3799729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fr-FR" b="1" dirty="0"/>
            </a:p>
            <a:p>
              <a:pPr algn="ctr"/>
              <a:r>
                <a:rPr lang="fr-FR" u="sng" dirty="0" err="1"/>
                <a:t>Discarding</a:t>
              </a:r>
              <a:r>
                <a:rPr lang="fr-FR" u="sng" dirty="0"/>
                <a:t> </a:t>
              </a:r>
              <a:r>
                <a:rPr lang="fr-FR" u="sng" dirty="0" err="1"/>
                <a:t>previous</a:t>
              </a:r>
              <a:r>
                <a:rPr lang="fr-FR" u="sng" dirty="0"/>
                <a:t> information</a:t>
              </a: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8F14E0D3-8F9F-95A3-4730-9B28CD13A8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9572" y="4583341"/>
              <a:ext cx="3236625" cy="920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5274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EA0E-71EF-E7A9-7E1A-95BCA64C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75D4ACB-9BB4-1324-4C72-9929B7689366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0167937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idea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588CDD-8D90-94B5-A969-ABC8924A2E4F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E683466-74CC-B994-A904-1D1B17FD6D25}"/>
              </a:ext>
            </a:extLst>
          </p:cNvPr>
          <p:cNvSpPr txBox="1"/>
          <p:nvPr/>
        </p:nvSpPr>
        <p:spPr>
          <a:xfrm>
            <a:off x="9578455" y="447789"/>
            <a:ext cx="2328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9AD93A"/>
                </a:solidFill>
              </a:rPr>
              <a:t>Aimed</a:t>
            </a:r>
            <a:r>
              <a:rPr lang="fr-FR" sz="2000" dirty="0">
                <a:solidFill>
                  <a:srgbClr val="9AD93A"/>
                </a:solidFill>
              </a:rPr>
              <a:t> </a:t>
            </a:r>
            <a:r>
              <a:rPr lang="fr-FR" sz="2000" dirty="0" err="1">
                <a:solidFill>
                  <a:srgbClr val="9AD93A"/>
                </a:solidFill>
              </a:rPr>
              <a:t>energy</a:t>
            </a:r>
            <a:r>
              <a:rPr lang="fr-FR" sz="2000" dirty="0">
                <a:solidFill>
                  <a:srgbClr val="9AD93A"/>
                </a:solidFill>
              </a:rPr>
              <a:t> </a:t>
            </a:r>
            <a:r>
              <a:rPr lang="fr-FR" sz="2000" dirty="0" err="1">
                <a:solidFill>
                  <a:srgbClr val="9AD93A"/>
                </a:solidFill>
              </a:rPr>
              <a:t>level</a:t>
            </a:r>
            <a:r>
              <a:rPr lang="fr-FR" sz="2000" dirty="0">
                <a:solidFill>
                  <a:srgbClr val="9AD93A"/>
                </a:solidFill>
              </a:rPr>
              <a:t> (one state)</a:t>
            </a:r>
            <a:endParaRPr lang="en-GB" sz="2000" dirty="0">
              <a:solidFill>
                <a:srgbClr val="9AD93A"/>
              </a:solidFill>
            </a:endParaRPr>
          </a:p>
        </p:txBody>
      </p:sp>
      <p:pic>
        <p:nvPicPr>
          <p:cNvPr id="10" name="Image 9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4A7E05FF-29B6-AE2C-D45F-1CD3870FB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92" y="1201382"/>
            <a:ext cx="9131838" cy="542033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9861D461-A214-0459-816B-366257AFC542}"/>
              </a:ext>
            </a:extLst>
          </p:cNvPr>
          <p:cNvSpPr/>
          <p:nvPr/>
        </p:nvSpPr>
        <p:spPr>
          <a:xfrm>
            <a:off x="2348682" y="1612655"/>
            <a:ext cx="237066" cy="2260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F8A31D09-F20E-1412-EABF-1612F34E4109}"/>
              </a:ext>
            </a:extLst>
          </p:cNvPr>
          <p:cNvCxnSpPr>
            <a:cxnSpLocks/>
          </p:cNvCxnSpPr>
          <p:nvPr/>
        </p:nvCxnSpPr>
        <p:spPr>
          <a:xfrm flipH="1">
            <a:off x="10410669" y="1095715"/>
            <a:ext cx="339448" cy="381504"/>
          </a:xfrm>
          <a:prstGeom prst="straightConnector1">
            <a:avLst/>
          </a:prstGeom>
          <a:ln w="38100">
            <a:solidFill>
              <a:srgbClr val="9AD9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55A6D93-C341-3FE7-C261-F0FD029DEFD3}"/>
              </a:ext>
            </a:extLst>
          </p:cNvPr>
          <p:cNvSpPr txBox="1"/>
          <p:nvPr/>
        </p:nvSpPr>
        <p:spPr>
          <a:xfrm>
            <a:off x="2236686" y="2118755"/>
            <a:ext cx="97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rgbClr val="FF0000"/>
                </a:solidFill>
              </a:rPr>
              <a:t>Starting</a:t>
            </a:r>
            <a:r>
              <a:rPr lang="fr-FR" dirty="0">
                <a:solidFill>
                  <a:srgbClr val="FF0000"/>
                </a:solidFill>
              </a:rPr>
              <a:t> point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D06C75E9-4553-426F-CC5A-6F0796D0C6F0}"/>
              </a:ext>
            </a:extLst>
          </p:cNvPr>
          <p:cNvSpPr/>
          <p:nvPr/>
        </p:nvSpPr>
        <p:spPr>
          <a:xfrm rot="5212983">
            <a:off x="4115015" y="246135"/>
            <a:ext cx="345050" cy="3423712"/>
          </a:xfrm>
          <a:custGeom>
            <a:avLst/>
            <a:gdLst>
              <a:gd name="csX0" fmla="*/ 0 w 298072"/>
              <a:gd name="csY0" fmla="*/ 580571 h 580571"/>
              <a:gd name="csX1" fmla="*/ 297543 w 298072"/>
              <a:gd name="csY1" fmla="*/ 312057 h 580571"/>
              <a:gd name="csX2" fmla="*/ 58057 w 298072"/>
              <a:gd name="csY2" fmla="*/ 0 h 580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8072" h="580571">
                <a:moveTo>
                  <a:pt x="0" y="580571"/>
                </a:moveTo>
                <a:cubicBezTo>
                  <a:pt x="143933" y="494695"/>
                  <a:pt x="287867" y="408819"/>
                  <a:pt x="297543" y="312057"/>
                </a:cubicBezTo>
                <a:cubicBezTo>
                  <a:pt x="307219" y="215295"/>
                  <a:pt x="182638" y="107647"/>
                  <a:pt x="58057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135CE053-992D-E3A5-22BC-A8B34CCCAD90}"/>
              </a:ext>
            </a:extLst>
          </p:cNvPr>
          <p:cNvSpPr/>
          <p:nvPr/>
        </p:nvSpPr>
        <p:spPr>
          <a:xfrm rot="5212983">
            <a:off x="7803814" y="142233"/>
            <a:ext cx="327529" cy="3486772"/>
          </a:xfrm>
          <a:custGeom>
            <a:avLst/>
            <a:gdLst>
              <a:gd name="csX0" fmla="*/ 0 w 298072"/>
              <a:gd name="csY0" fmla="*/ 580571 h 580571"/>
              <a:gd name="csX1" fmla="*/ 297543 w 298072"/>
              <a:gd name="csY1" fmla="*/ 312057 h 580571"/>
              <a:gd name="csX2" fmla="*/ 58057 w 298072"/>
              <a:gd name="csY2" fmla="*/ 0 h 580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8072" h="580571">
                <a:moveTo>
                  <a:pt x="0" y="580571"/>
                </a:moveTo>
                <a:cubicBezTo>
                  <a:pt x="143933" y="494695"/>
                  <a:pt x="287867" y="408819"/>
                  <a:pt x="297543" y="312057"/>
                </a:cubicBezTo>
                <a:cubicBezTo>
                  <a:pt x="307219" y="215295"/>
                  <a:pt x="182638" y="107647"/>
                  <a:pt x="58057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F737CE9-0A24-D332-691A-E58EC0426100}"/>
              </a:ext>
            </a:extLst>
          </p:cNvPr>
          <p:cNvSpPr txBox="1"/>
          <p:nvPr/>
        </p:nvSpPr>
        <p:spPr>
          <a:xfrm>
            <a:off x="3009752" y="21439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>
                <a:solidFill>
                  <a:srgbClr val="FF0000"/>
                </a:solidFill>
              </a:rPr>
              <a:t>Computing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iteratively</a:t>
            </a:r>
            <a:r>
              <a:rPr lang="fr-FR" dirty="0">
                <a:solidFill>
                  <a:srgbClr val="FF0000"/>
                </a:solidFill>
              </a:rPr>
              <a:t> the </a:t>
            </a:r>
            <a:r>
              <a:rPr lang="fr-FR" dirty="0" err="1">
                <a:solidFill>
                  <a:srgbClr val="FF0000"/>
                </a:solidFill>
              </a:rPr>
              <a:t>next</a:t>
            </a:r>
            <a:r>
              <a:rPr lang="fr-FR" dirty="0">
                <a:solidFill>
                  <a:srgbClr val="FF0000"/>
                </a:solidFill>
              </a:rPr>
              <a:t> value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With </a:t>
            </a:r>
            <a:r>
              <a:rPr lang="fr-FR" dirty="0" err="1">
                <a:solidFill>
                  <a:srgbClr val="FF0000"/>
                </a:solidFill>
              </a:rPr>
              <a:t>previous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result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442D5542-3F7B-46E4-1A5D-8039EFAAB14B}"/>
              </a:ext>
            </a:extLst>
          </p:cNvPr>
          <p:cNvSpPr/>
          <p:nvPr/>
        </p:nvSpPr>
        <p:spPr>
          <a:xfrm rot="5212983">
            <a:off x="10420598" y="1148333"/>
            <a:ext cx="181345" cy="1259733"/>
          </a:xfrm>
          <a:custGeom>
            <a:avLst/>
            <a:gdLst>
              <a:gd name="csX0" fmla="*/ 0 w 298072"/>
              <a:gd name="csY0" fmla="*/ 580571 h 580571"/>
              <a:gd name="csX1" fmla="*/ 297543 w 298072"/>
              <a:gd name="csY1" fmla="*/ 312057 h 580571"/>
              <a:gd name="csX2" fmla="*/ 58057 w 298072"/>
              <a:gd name="csY2" fmla="*/ 0 h 580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8072" h="580571">
                <a:moveTo>
                  <a:pt x="0" y="580571"/>
                </a:moveTo>
                <a:cubicBezTo>
                  <a:pt x="143933" y="494695"/>
                  <a:pt x="287867" y="408819"/>
                  <a:pt x="297543" y="312057"/>
                </a:cubicBezTo>
                <a:cubicBezTo>
                  <a:pt x="307219" y="215295"/>
                  <a:pt x="182638" y="107647"/>
                  <a:pt x="58057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19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AC907-D91C-58EA-98C6-69AA97AD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9107D2F-56DA-8D1F-D03F-2A7E69178663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power algorithm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E5C138-5F27-6A0B-E825-1175F2245EB3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6ED5EA-D5AE-5507-31AF-B01AEF233694}"/>
              </a:ext>
            </a:extLst>
          </p:cNvPr>
          <p:cNvSpPr txBox="1"/>
          <p:nvPr/>
        </p:nvSpPr>
        <p:spPr>
          <a:xfrm>
            <a:off x="4174824" y="1237961"/>
            <a:ext cx="37153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2200" u="sng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88C674C-83BA-D8DB-FA84-7B404504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88011" y="4030344"/>
            <a:ext cx="4888978" cy="36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32C5C698-3AA8-E846-9BC9-B9C5980438DE}"/>
              </a:ext>
            </a:extLst>
          </p:cNvPr>
          <p:cNvGrpSpPr/>
          <p:nvPr/>
        </p:nvGrpSpPr>
        <p:grpSpPr>
          <a:xfrm>
            <a:off x="2500044" y="5127552"/>
            <a:ext cx="6640877" cy="769441"/>
            <a:chOff x="2808314" y="5052602"/>
            <a:chExt cx="6640877" cy="769441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731E2723-F67F-F025-FBB6-6C1E8FE64F89}"/>
                </a:ext>
              </a:extLst>
            </p:cNvPr>
            <p:cNvSpPr txBox="1"/>
            <p:nvPr/>
          </p:nvSpPr>
          <p:spPr>
            <a:xfrm>
              <a:off x="5252803" y="5052602"/>
              <a:ext cx="1356610" cy="76944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200" dirty="0"/>
                <a:t>Power </a:t>
              </a:r>
              <a:r>
                <a:rPr lang="fr-FR" sz="2200" dirty="0" err="1"/>
                <a:t>algorithm</a:t>
              </a:r>
              <a:endParaRPr lang="en-GB" sz="2200" dirty="0"/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6CC6A5AC-6952-6539-3A41-87B676EAC685}"/>
                </a:ext>
              </a:extLst>
            </p:cNvPr>
            <p:cNvCxnSpPr>
              <a:cxnSpLocks/>
            </p:cNvCxnSpPr>
            <p:nvPr/>
          </p:nvCxnSpPr>
          <p:spPr>
            <a:xfrm>
              <a:off x="3919928" y="5437322"/>
              <a:ext cx="1227945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E6551DE7-7C66-A244-AD46-25849972C7F8}"/>
                </a:ext>
              </a:extLst>
            </p:cNvPr>
            <p:cNvCxnSpPr>
              <a:cxnSpLocks/>
            </p:cNvCxnSpPr>
            <p:nvPr/>
          </p:nvCxnSpPr>
          <p:spPr>
            <a:xfrm>
              <a:off x="6736828" y="5437322"/>
              <a:ext cx="1227945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FC20F946-9937-C937-0872-FA979594C80D}"/>
                </a:ext>
              </a:extLst>
            </p:cNvPr>
            <p:cNvSpPr txBox="1"/>
            <p:nvPr/>
          </p:nvSpPr>
          <p:spPr>
            <a:xfrm>
              <a:off x="2808314" y="5218313"/>
              <a:ext cx="13566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200" dirty="0"/>
                <a:t>Matrix</a:t>
              </a:r>
              <a:endParaRPr lang="en-GB" sz="2200" dirty="0"/>
            </a:p>
          </p:txBody>
        </p:sp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9FD86708-9F4A-46E2-9881-070730823D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163943" y="5281819"/>
              <a:ext cx="1285248" cy="311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C3B89FC3-9BCA-CE5F-71BD-CF4D660F4075}"/>
              </a:ext>
            </a:extLst>
          </p:cNvPr>
          <p:cNvSpPr txBox="1"/>
          <p:nvPr/>
        </p:nvSpPr>
        <p:spPr>
          <a:xfrm>
            <a:off x="2014286" y="4879119"/>
            <a:ext cx="7525062" cy="12591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E1C1FAE-412A-7D6B-1D0A-AFC193A1F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286" y="1399015"/>
            <a:ext cx="8163428" cy="242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7818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4183-8726-9755-3888-98054E70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7648250-1CBB-FD54-2044-7F39889D2A08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D5BC0A-6840-AEC7-ED9B-5D2AF504B95B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8A69DEB3-66F0-53E0-9941-30D7F2E93E31}"/>
              </a:ext>
            </a:extLst>
          </p:cNvPr>
          <p:cNvCxnSpPr>
            <a:cxnSpLocks/>
          </p:cNvCxnSpPr>
          <p:nvPr/>
        </p:nvCxnSpPr>
        <p:spPr>
          <a:xfrm rot="10800000">
            <a:off x="1528997" y="1409075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29" name="Groupe 1028">
            <a:extLst>
              <a:ext uri="{FF2B5EF4-FFF2-40B4-BE49-F238E27FC236}">
                <a16:creationId xmlns:a16="http://schemas.microsoft.com/office/drawing/2014/main" id="{4C7F9303-CBFA-08AF-9283-C687F8042677}"/>
              </a:ext>
            </a:extLst>
          </p:cNvPr>
          <p:cNvGrpSpPr/>
          <p:nvPr/>
        </p:nvGrpSpPr>
        <p:grpSpPr>
          <a:xfrm>
            <a:off x="1716374" y="1551482"/>
            <a:ext cx="1064333" cy="1877518"/>
            <a:chOff x="1716374" y="1551482"/>
            <a:chExt cx="1971206" cy="1877518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6726636F-A89B-E783-B74B-8C24D2E04EB7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896256"/>
              <a:ext cx="197120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1F20875E-6FFC-5915-5C2D-893B68C65193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288498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7C39C097-7AAA-1D67-52BD-F63256B238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941886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F4C2731-E806-C8C9-82FB-9C8B94A8039F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3429000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C9557494-846C-172E-18D7-E7C5DA6966F8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551482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5E908F3-46A9-365A-CC6F-DCF34D1747AB}"/>
              </a:ext>
            </a:extLst>
          </p:cNvPr>
          <p:cNvCxnSpPr>
            <a:cxnSpLocks/>
          </p:cNvCxnSpPr>
          <p:nvPr/>
        </p:nvCxnSpPr>
        <p:spPr>
          <a:xfrm>
            <a:off x="1398661" y="3752448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4A26D8C9-D5EF-06BA-680B-122D84974FC3}"/>
                  </a:ext>
                </a:extLst>
              </p:cNvPr>
              <p:cNvSpPr txBox="1"/>
              <p:nvPr/>
            </p:nvSpPr>
            <p:spPr>
              <a:xfrm>
                <a:off x="2798868" y="2739363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4A26D8C9-D5EF-06BA-680B-122D8497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868" y="2739363"/>
                <a:ext cx="1219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38D3D469-1F6A-332E-B9C9-D6A2367D4FD0}"/>
                  </a:ext>
                </a:extLst>
              </p:cNvPr>
              <p:cNvSpPr txBox="1"/>
              <p:nvPr/>
            </p:nvSpPr>
            <p:spPr>
              <a:xfrm>
                <a:off x="2796436" y="2084398"/>
                <a:ext cx="1219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38D3D469-1F6A-332E-B9C9-D6A2367D4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2084398"/>
                <a:ext cx="1219200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0B5C1D9E-297A-0F19-CFBF-54876A077808}"/>
                  </a:ext>
                </a:extLst>
              </p:cNvPr>
              <p:cNvSpPr txBox="1"/>
              <p:nvPr/>
            </p:nvSpPr>
            <p:spPr>
              <a:xfrm>
                <a:off x="2796436" y="1311168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0B5C1D9E-297A-0F19-CFBF-54876A077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1311168"/>
                <a:ext cx="1219200" cy="7328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E5C6A06E-9D66-0043-9338-1D98B457E87E}"/>
                  </a:ext>
                </a:extLst>
              </p:cNvPr>
              <p:cNvSpPr txBox="1"/>
              <p:nvPr/>
            </p:nvSpPr>
            <p:spPr>
              <a:xfrm>
                <a:off x="2796436" y="1703706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E5C6A06E-9D66-0043-9338-1D98B457E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1703706"/>
                <a:ext cx="1219200" cy="7328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8FDE8597-844D-68A4-CEBB-A72122D9A29F}"/>
              </a:ext>
            </a:extLst>
          </p:cNvPr>
          <p:cNvSpPr txBox="1"/>
          <p:nvPr/>
        </p:nvSpPr>
        <p:spPr>
          <a:xfrm>
            <a:off x="1603049" y="2323088"/>
            <a:ext cx="1219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b="1" dirty="0"/>
              <a:t>…</a:t>
            </a:r>
            <a:endParaRPr lang="en-GB" sz="25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A04B0117-C273-3D89-BB0A-97541D33D58F}"/>
                  </a:ext>
                </a:extLst>
              </p:cNvPr>
              <p:cNvSpPr txBox="1"/>
              <p:nvPr/>
            </p:nvSpPr>
            <p:spPr>
              <a:xfrm>
                <a:off x="2892580" y="3236591"/>
                <a:ext cx="98438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ar-AE" sz="2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A04B0117-C273-3D89-BB0A-97541D33D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580" y="3236591"/>
                <a:ext cx="984383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D9CBD3A-8417-B90B-F78E-3E96306756E3}"/>
                  </a:ext>
                </a:extLst>
              </p:cNvPr>
              <p:cNvSpPr txBox="1"/>
              <p:nvPr/>
            </p:nvSpPr>
            <p:spPr>
              <a:xfrm>
                <a:off x="-380966" y="2195060"/>
                <a:ext cx="27116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D9CBD3A-8417-B90B-F78E-3E963067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0966" y="2195060"/>
                <a:ext cx="2711619" cy="707886"/>
              </a:xfrm>
              <a:prstGeom prst="rect">
                <a:avLst/>
              </a:prstGeom>
              <a:blipFill>
                <a:blip r:embed="rId10"/>
                <a:stretch>
                  <a:fillRect t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3" name="Connecteur droit avec flèche 1062">
            <a:extLst>
              <a:ext uri="{FF2B5EF4-FFF2-40B4-BE49-F238E27FC236}">
                <a16:creationId xmlns:a16="http://schemas.microsoft.com/office/drawing/2014/main" id="{D441212C-E2FD-E612-1E55-5D44F8486494}"/>
              </a:ext>
            </a:extLst>
          </p:cNvPr>
          <p:cNvCxnSpPr>
            <a:cxnSpLocks/>
          </p:cNvCxnSpPr>
          <p:nvPr/>
        </p:nvCxnSpPr>
        <p:spPr>
          <a:xfrm rot="10800000">
            <a:off x="5406168" y="1409075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4" name="Groupe 1063">
            <a:extLst>
              <a:ext uri="{FF2B5EF4-FFF2-40B4-BE49-F238E27FC236}">
                <a16:creationId xmlns:a16="http://schemas.microsoft.com/office/drawing/2014/main" id="{0700C566-608E-EE56-DF32-F33E9830AC26}"/>
              </a:ext>
            </a:extLst>
          </p:cNvPr>
          <p:cNvGrpSpPr/>
          <p:nvPr/>
        </p:nvGrpSpPr>
        <p:grpSpPr>
          <a:xfrm>
            <a:off x="5593545" y="1551482"/>
            <a:ext cx="1064333" cy="1877518"/>
            <a:chOff x="1716374" y="1551482"/>
            <a:chExt cx="1971206" cy="1877518"/>
          </a:xfrm>
        </p:grpSpPr>
        <p:cxnSp>
          <p:nvCxnSpPr>
            <p:cNvPr id="1065" name="Connecteur droit 1064">
              <a:extLst>
                <a:ext uri="{FF2B5EF4-FFF2-40B4-BE49-F238E27FC236}">
                  <a16:creationId xmlns:a16="http://schemas.microsoft.com/office/drawing/2014/main" id="{FE8D9152-F419-1E66-BE88-3982631799F2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896256"/>
              <a:ext cx="197120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Connecteur droit 1065">
              <a:extLst>
                <a:ext uri="{FF2B5EF4-FFF2-40B4-BE49-F238E27FC236}">
                  <a16:creationId xmlns:a16="http://schemas.microsoft.com/office/drawing/2014/main" id="{B2FFB194-91E6-7C0B-870F-FE43EC3C857B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288498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Connecteur droit 1066">
              <a:extLst>
                <a:ext uri="{FF2B5EF4-FFF2-40B4-BE49-F238E27FC236}">
                  <a16:creationId xmlns:a16="http://schemas.microsoft.com/office/drawing/2014/main" id="{C9EF7178-E7AE-40D4-2791-6EE53BD7D045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941886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Connecteur droit 1067">
              <a:extLst>
                <a:ext uri="{FF2B5EF4-FFF2-40B4-BE49-F238E27FC236}">
                  <a16:creationId xmlns:a16="http://schemas.microsoft.com/office/drawing/2014/main" id="{709289B3-F45C-9177-A37B-F27A73E00618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3429000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Connecteur droit 1068">
              <a:extLst>
                <a:ext uri="{FF2B5EF4-FFF2-40B4-BE49-F238E27FC236}">
                  <a16:creationId xmlns:a16="http://schemas.microsoft.com/office/drawing/2014/main" id="{F1BD246C-0F1F-8BE3-BD70-B16362E4F525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551482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1" name="Connecteur droit 1070">
            <a:extLst>
              <a:ext uri="{FF2B5EF4-FFF2-40B4-BE49-F238E27FC236}">
                <a16:creationId xmlns:a16="http://schemas.microsoft.com/office/drawing/2014/main" id="{9F412F2E-BC19-326D-2C9C-EBA5C9108980}"/>
              </a:ext>
            </a:extLst>
          </p:cNvPr>
          <p:cNvCxnSpPr>
            <a:cxnSpLocks/>
          </p:cNvCxnSpPr>
          <p:nvPr/>
        </p:nvCxnSpPr>
        <p:spPr>
          <a:xfrm>
            <a:off x="5274428" y="1955753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2" name="ZoneTexte 1071">
                <a:extLst>
                  <a:ext uri="{FF2B5EF4-FFF2-40B4-BE49-F238E27FC236}">
                    <a16:creationId xmlns:a16="http://schemas.microsoft.com/office/drawing/2014/main" id="{65B99D74-3A23-743A-5E83-DA5C1BF69C4D}"/>
                  </a:ext>
                </a:extLst>
              </p:cNvPr>
              <p:cNvSpPr txBox="1"/>
              <p:nvPr/>
            </p:nvSpPr>
            <p:spPr>
              <a:xfrm>
                <a:off x="6557705" y="2723198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2" name="ZoneTexte 1071">
                <a:extLst>
                  <a:ext uri="{FF2B5EF4-FFF2-40B4-BE49-F238E27FC236}">
                    <a16:creationId xmlns:a16="http://schemas.microsoft.com/office/drawing/2014/main" id="{65B99D74-3A23-743A-5E83-DA5C1BF69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05" y="2723198"/>
                <a:ext cx="1219200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ZoneTexte 1072">
                <a:extLst>
                  <a:ext uri="{FF2B5EF4-FFF2-40B4-BE49-F238E27FC236}">
                    <a16:creationId xmlns:a16="http://schemas.microsoft.com/office/drawing/2014/main" id="{B006848B-DE30-4CE1-C27F-538027CC43DA}"/>
                  </a:ext>
                </a:extLst>
              </p:cNvPr>
              <p:cNvSpPr txBox="1"/>
              <p:nvPr/>
            </p:nvSpPr>
            <p:spPr>
              <a:xfrm>
                <a:off x="6600807" y="2075391"/>
                <a:ext cx="1219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3" name="ZoneTexte 1072">
                <a:extLst>
                  <a:ext uri="{FF2B5EF4-FFF2-40B4-BE49-F238E27FC236}">
                    <a16:creationId xmlns:a16="http://schemas.microsoft.com/office/drawing/2014/main" id="{B006848B-DE30-4CE1-C27F-538027CC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07" y="2075391"/>
                <a:ext cx="1219200" cy="400110"/>
              </a:xfrm>
              <a:prstGeom prst="rect">
                <a:avLst/>
              </a:prstGeom>
              <a:blipFill>
                <a:blip r:embed="rId12"/>
                <a:stretch>
                  <a:fillRect l="-500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4" name="ZoneTexte 1073">
                <a:extLst>
                  <a:ext uri="{FF2B5EF4-FFF2-40B4-BE49-F238E27FC236}">
                    <a16:creationId xmlns:a16="http://schemas.microsoft.com/office/drawing/2014/main" id="{47E33937-F7E2-C8A9-5F01-83BE4D06DE9B}"/>
                  </a:ext>
                </a:extLst>
              </p:cNvPr>
              <p:cNvSpPr txBox="1"/>
              <p:nvPr/>
            </p:nvSpPr>
            <p:spPr>
              <a:xfrm>
                <a:off x="6568677" y="1311168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4" name="ZoneTexte 1073">
                <a:extLst>
                  <a:ext uri="{FF2B5EF4-FFF2-40B4-BE49-F238E27FC236}">
                    <a16:creationId xmlns:a16="http://schemas.microsoft.com/office/drawing/2014/main" id="{47E33937-F7E2-C8A9-5F01-83BE4D06D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677" y="1311168"/>
                <a:ext cx="1219200" cy="73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5" name="ZoneTexte 1074">
                <a:extLst>
                  <a:ext uri="{FF2B5EF4-FFF2-40B4-BE49-F238E27FC236}">
                    <a16:creationId xmlns:a16="http://schemas.microsoft.com/office/drawing/2014/main" id="{674AC12D-8ACE-E75B-4D83-69A336BA7EF0}"/>
                  </a:ext>
                </a:extLst>
              </p:cNvPr>
              <p:cNvSpPr txBox="1"/>
              <p:nvPr/>
            </p:nvSpPr>
            <p:spPr>
              <a:xfrm>
                <a:off x="6531202" y="1703706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5" name="ZoneTexte 1074">
                <a:extLst>
                  <a:ext uri="{FF2B5EF4-FFF2-40B4-BE49-F238E27FC236}">
                    <a16:creationId xmlns:a16="http://schemas.microsoft.com/office/drawing/2014/main" id="{674AC12D-8ACE-E75B-4D83-69A336BA7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202" y="1703706"/>
                <a:ext cx="1219200" cy="73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6" name="ZoneTexte 1075">
            <a:extLst>
              <a:ext uri="{FF2B5EF4-FFF2-40B4-BE49-F238E27FC236}">
                <a16:creationId xmlns:a16="http://schemas.microsoft.com/office/drawing/2014/main" id="{6CD70F94-4794-5885-F8D9-A93825229FF2}"/>
              </a:ext>
            </a:extLst>
          </p:cNvPr>
          <p:cNvSpPr txBox="1"/>
          <p:nvPr/>
        </p:nvSpPr>
        <p:spPr>
          <a:xfrm>
            <a:off x="5480220" y="2323088"/>
            <a:ext cx="1219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b="1" dirty="0"/>
              <a:t>…</a:t>
            </a:r>
            <a:endParaRPr lang="en-GB" sz="2500" b="1" dirty="0"/>
          </a:p>
        </p:txBody>
      </p:sp>
      <p:cxnSp>
        <p:nvCxnSpPr>
          <p:cNvPr id="1078" name="Connecteur droit avec flèche 1077">
            <a:extLst>
              <a:ext uri="{FF2B5EF4-FFF2-40B4-BE49-F238E27FC236}">
                <a16:creationId xmlns:a16="http://schemas.microsoft.com/office/drawing/2014/main" id="{868344F9-C7B9-1ED7-A2F3-6C582E2EEC20}"/>
              </a:ext>
            </a:extLst>
          </p:cNvPr>
          <p:cNvCxnSpPr>
            <a:cxnSpLocks/>
          </p:cNvCxnSpPr>
          <p:nvPr/>
        </p:nvCxnSpPr>
        <p:spPr>
          <a:xfrm rot="10800000">
            <a:off x="9513223" y="1436237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0" name="Connecteur droit 1079">
            <a:extLst>
              <a:ext uri="{FF2B5EF4-FFF2-40B4-BE49-F238E27FC236}">
                <a16:creationId xmlns:a16="http://schemas.microsoft.com/office/drawing/2014/main" id="{60A13CE7-56A4-98CA-8E3D-C618A3C20332}"/>
              </a:ext>
            </a:extLst>
          </p:cNvPr>
          <p:cNvCxnSpPr>
            <a:cxnSpLocks/>
          </p:cNvCxnSpPr>
          <p:nvPr/>
        </p:nvCxnSpPr>
        <p:spPr>
          <a:xfrm>
            <a:off x="9700600" y="1856106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eur droit 1080">
            <a:extLst>
              <a:ext uri="{FF2B5EF4-FFF2-40B4-BE49-F238E27FC236}">
                <a16:creationId xmlns:a16="http://schemas.microsoft.com/office/drawing/2014/main" id="{5DA4419C-6709-72FC-9DD1-2291FEAACBDE}"/>
              </a:ext>
            </a:extLst>
          </p:cNvPr>
          <p:cNvCxnSpPr>
            <a:cxnSpLocks/>
          </p:cNvCxnSpPr>
          <p:nvPr/>
        </p:nvCxnSpPr>
        <p:spPr>
          <a:xfrm>
            <a:off x="9748500" y="3829333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eur droit 1081">
            <a:extLst>
              <a:ext uri="{FF2B5EF4-FFF2-40B4-BE49-F238E27FC236}">
                <a16:creationId xmlns:a16="http://schemas.microsoft.com/office/drawing/2014/main" id="{DEE422AA-DB7C-1DDB-46B7-90A70CFE7FA5}"/>
              </a:ext>
            </a:extLst>
          </p:cNvPr>
          <p:cNvCxnSpPr>
            <a:cxnSpLocks/>
          </p:cNvCxnSpPr>
          <p:nvPr/>
        </p:nvCxnSpPr>
        <p:spPr>
          <a:xfrm>
            <a:off x="9748500" y="3513060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eur droit 1082">
            <a:extLst>
              <a:ext uri="{FF2B5EF4-FFF2-40B4-BE49-F238E27FC236}">
                <a16:creationId xmlns:a16="http://schemas.microsoft.com/office/drawing/2014/main" id="{19558953-60BE-0FA8-20BF-0F61FF7C7DB7}"/>
              </a:ext>
            </a:extLst>
          </p:cNvPr>
          <p:cNvCxnSpPr>
            <a:cxnSpLocks/>
          </p:cNvCxnSpPr>
          <p:nvPr/>
        </p:nvCxnSpPr>
        <p:spPr>
          <a:xfrm>
            <a:off x="9748500" y="3944477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eur droit 1083">
            <a:extLst>
              <a:ext uri="{FF2B5EF4-FFF2-40B4-BE49-F238E27FC236}">
                <a16:creationId xmlns:a16="http://schemas.microsoft.com/office/drawing/2014/main" id="{15421162-15CC-0175-9731-5A36829A0C2D}"/>
              </a:ext>
            </a:extLst>
          </p:cNvPr>
          <p:cNvCxnSpPr>
            <a:cxnSpLocks/>
          </p:cNvCxnSpPr>
          <p:nvPr/>
        </p:nvCxnSpPr>
        <p:spPr>
          <a:xfrm>
            <a:off x="9739981" y="3407148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eur droit 1085">
            <a:extLst>
              <a:ext uri="{FF2B5EF4-FFF2-40B4-BE49-F238E27FC236}">
                <a16:creationId xmlns:a16="http://schemas.microsoft.com/office/drawing/2014/main" id="{F3108426-0832-8081-09F4-019DA6C33E72}"/>
              </a:ext>
            </a:extLst>
          </p:cNvPr>
          <p:cNvCxnSpPr>
            <a:cxnSpLocks/>
          </p:cNvCxnSpPr>
          <p:nvPr/>
        </p:nvCxnSpPr>
        <p:spPr>
          <a:xfrm>
            <a:off x="9382887" y="3779610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0" name="ZoneTexte 1089">
                <a:extLst>
                  <a:ext uri="{FF2B5EF4-FFF2-40B4-BE49-F238E27FC236}">
                    <a16:creationId xmlns:a16="http://schemas.microsoft.com/office/drawing/2014/main" id="{D9F9CCFE-BF34-33C4-9BCA-08CCB5DD7808}"/>
                  </a:ext>
                </a:extLst>
              </p:cNvPr>
              <p:cNvSpPr txBox="1"/>
              <p:nvPr/>
            </p:nvSpPr>
            <p:spPr>
              <a:xfrm>
                <a:off x="10343230" y="1496593"/>
                <a:ext cx="1219200" cy="1286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fr-FR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0" name="ZoneTexte 1089">
                <a:extLst>
                  <a:ext uri="{FF2B5EF4-FFF2-40B4-BE49-F238E27FC236}">
                    <a16:creationId xmlns:a16="http://schemas.microsoft.com/office/drawing/2014/main" id="{D9F9CCFE-BF34-33C4-9BCA-08CCB5DD7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230" y="1496593"/>
                <a:ext cx="1219200" cy="128605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2" name="ZoneTexte 1091">
                <a:extLst>
                  <a:ext uri="{FF2B5EF4-FFF2-40B4-BE49-F238E27FC236}">
                    <a16:creationId xmlns:a16="http://schemas.microsoft.com/office/drawing/2014/main" id="{2BEDF5BE-55F3-0A22-2236-2DB805FC6881}"/>
                  </a:ext>
                </a:extLst>
              </p:cNvPr>
              <p:cNvSpPr txBox="1"/>
              <p:nvPr/>
            </p:nvSpPr>
            <p:spPr>
              <a:xfrm>
                <a:off x="7345990" y="2148204"/>
                <a:ext cx="2711619" cy="1330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sz="2000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1092" name="ZoneTexte 1091">
                <a:extLst>
                  <a:ext uri="{FF2B5EF4-FFF2-40B4-BE49-F238E27FC236}">
                    <a16:creationId xmlns:a16="http://schemas.microsoft.com/office/drawing/2014/main" id="{2BEDF5BE-55F3-0A22-2236-2DB805FC6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90" y="2148204"/>
                <a:ext cx="2711619" cy="1330429"/>
              </a:xfrm>
              <a:prstGeom prst="rect">
                <a:avLst/>
              </a:prstGeom>
              <a:blipFill>
                <a:blip r:embed="rId16"/>
                <a:stretch>
                  <a:fillRect t="-2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3" name="ZoneTexte 1092">
                <a:extLst>
                  <a:ext uri="{FF2B5EF4-FFF2-40B4-BE49-F238E27FC236}">
                    <a16:creationId xmlns:a16="http://schemas.microsoft.com/office/drawing/2014/main" id="{81DE5462-3590-969B-6133-04E9BC121FE6}"/>
                  </a:ext>
                </a:extLst>
              </p:cNvPr>
              <p:cNvSpPr txBox="1"/>
              <p:nvPr/>
            </p:nvSpPr>
            <p:spPr>
              <a:xfrm>
                <a:off x="3486588" y="2153610"/>
                <a:ext cx="27116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𝑰𝒅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093" name="ZoneTexte 1092">
                <a:extLst>
                  <a:ext uri="{FF2B5EF4-FFF2-40B4-BE49-F238E27FC236}">
                    <a16:creationId xmlns:a16="http://schemas.microsoft.com/office/drawing/2014/main" id="{81DE5462-3590-969B-6133-04E9BC121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88" y="2153610"/>
                <a:ext cx="2711619" cy="707886"/>
              </a:xfrm>
              <a:prstGeom prst="rect">
                <a:avLst/>
              </a:prstGeom>
              <a:blipFill>
                <a:blip r:embed="rId17"/>
                <a:stretch>
                  <a:fillRect t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A87A19F-F716-6CAE-9939-2E2D357E93DD}"/>
                  </a:ext>
                </a:extLst>
              </p:cNvPr>
              <p:cNvSpPr txBox="1"/>
              <p:nvPr/>
            </p:nvSpPr>
            <p:spPr>
              <a:xfrm>
                <a:off x="6575866" y="3205080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A87A19F-F716-6CAE-9939-2E2D357E9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866" y="3205080"/>
                <a:ext cx="1219200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1251F9E3-831A-C0F0-CB8A-C77A5B37DB41}"/>
              </a:ext>
            </a:extLst>
          </p:cNvPr>
          <p:cNvCxnSpPr>
            <a:cxnSpLocks/>
          </p:cNvCxnSpPr>
          <p:nvPr/>
        </p:nvCxnSpPr>
        <p:spPr>
          <a:xfrm>
            <a:off x="9748500" y="366846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7044901-7265-E420-0261-A3B2BDDAAA68}"/>
                  </a:ext>
                </a:extLst>
              </p:cNvPr>
              <p:cNvSpPr txBox="1"/>
              <p:nvPr/>
            </p:nvSpPr>
            <p:spPr>
              <a:xfrm>
                <a:off x="10704179" y="3317654"/>
                <a:ext cx="1219200" cy="1338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7044901-7265-E420-0261-A3B2BDDAA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179" y="3317654"/>
                <a:ext cx="1219200" cy="133805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43669FB-34A7-1835-5AE7-EE743108E9E7}"/>
              </a:ext>
            </a:extLst>
          </p:cNvPr>
          <p:cNvCxnSpPr>
            <a:cxnSpLocks/>
          </p:cNvCxnSpPr>
          <p:nvPr/>
        </p:nvCxnSpPr>
        <p:spPr>
          <a:xfrm>
            <a:off x="5274428" y="3730944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B276CBA-1E8B-A0BE-0ACC-010C65B4E662}"/>
                  </a:ext>
                </a:extLst>
              </p:cNvPr>
              <p:cNvSpPr txBox="1"/>
              <p:nvPr/>
            </p:nvSpPr>
            <p:spPr>
              <a:xfrm>
                <a:off x="4763298" y="3543634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fr-FR" b="1" dirty="0"/>
                  <a:t> </a:t>
                </a:r>
                <a:endParaRPr lang="en-GB" b="1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B276CBA-1E8B-A0BE-0ACC-010C65B4E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298" y="3543634"/>
                <a:ext cx="65526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BA082B-FF81-2A30-1AC5-5D5DE9159164}"/>
                  </a:ext>
                </a:extLst>
              </p:cNvPr>
              <p:cNvSpPr txBox="1"/>
              <p:nvPr/>
            </p:nvSpPr>
            <p:spPr>
              <a:xfrm>
                <a:off x="4785760" y="1778872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BA082B-FF81-2A30-1AC5-5D5DE9159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60" y="1778872"/>
                <a:ext cx="65526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1084EDA-37AE-1B49-2ADF-A79D9EDA8D3E}"/>
                  </a:ext>
                </a:extLst>
              </p:cNvPr>
              <p:cNvSpPr txBox="1"/>
              <p:nvPr/>
            </p:nvSpPr>
            <p:spPr>
              <a:xfrm>
                <a:off x="902256" y="3579831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1084EDA-37AE-1B49-2ADF-A79D9EDA8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56" y="3579831"/>
                <a:ext cx="6552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904FA925-D348-C66A-45AC-9638B3C19A8B}"/>
                  </a:ext>
                </a:extLst>
              </p:cNvPr>
              <p:cNvSpPr txBox="1"/>
              <p:nvPr/>
            </p:nvSpPr>
            <p:spPr>
              <a:xfrm>
                <a:off x="8879226" y="3602826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904FA925-D348-C66A-45AC-9638B3C19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226" y="3602826"/>
                <a:ext cx="65526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86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6852-5B7D-A179-1CF1-9752CFE3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027A4B4-E95C-6886-E146-95513473D143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6C8B70-6BDB-52B6-E628-880D67CEB0F3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F5E6C5F-7A30-F6F7-6F99-CF9D43EBCE84}"/>
              </a:ext>
            </a:extLst>
          </p:cNvPr>
          <p:cNvGrpSpPr/>
          <p:nvPr/>
        </p:nvGrpSpPr>
        <p:grpSpPr>
          <a:xfrm>
            <a:off x="4514573" y="4250956"/>
            <a:ext cx="2388918" cy="769441"/>
            <a:chOff x="4220495" y="5052602"/>
            <a:chExt cx="2388918" cy="769441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05A5349-7375-FA03-9222-70E64E772861}"/>
                </a:ext>
              </a:extLst>
            </p:cNvPr>
            <p:cNvSpPr txBox="1"/>
            <p:nvPr/>
          </p:nvSpPr>
          <p:spPr>
            <a:xfrm>
              <a:off x="5252803" y="5052602"/>
              <a:ext cx="1356610" cy="76944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200" dirty="0"/>
                <a:t>Power </a:t>
              </a:r>
              <a:r>
                <a:rPr lang="fr-FR" sz="2200" dirty="0" err="1"/>
                <a:t>algorithm</a:t>
              </a:r>
              <a:endParaRPr lang="en-GB" sz="2200" dirty="0"/>
            </a:p>
          </p:txBody>
        </p:sp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id="{1267E01E-5FAA-1FF8-809E-10D1714F9D8C}"/>
                </a:ext>
              </a:extLst>
            </p:cNvPr>
            <p:cNvCxnSpPr>
              <a:cxnSpLocks/>
            </p:cNvCxnSpPr>
            <p:nvPr/>
          </p:nvCxnSpPr>
          <p:spPr>
            <a:xfrm>
              <a:off x="4220495" y="5437321"/>
              <a:ext cx="73052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A8B55F-C6F2-6308-AE90-EB6D3679C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963" y="4458322"/>
            <a:ext cx="3070057" cy="35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E4AC795-104D-48E8-303E-D2A3C2E42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63" y="4451076"/>
            <a:ext cx="3095469" cy="36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96B28A6-22C0-3506-1F93-C06A44C49877}"/>
              </a:ext>
            </a:extLst>
          </p:cNvPr>
          <p:cNvCxnSpPr>
            <a:cxnSpLocks/>
          </p:cNvCxnSpPr>
          <p:nvPr/>
        </p:nvCxnSpPr>
        <p:spPr>
          <a:xfrm>
            <a:off x="7245831" y="4635675"/>
            <a:ext cx="73052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02D0B0C1-FC11-FE75-0CA8-A9115659B142}"/>
              </a:ext>
            </a:extLst>
          </p:cNvPr>
          <p:cNvSpPr/>
          <p:nvPr/>
        </p:nvSpPr>
        <p:spPr>
          <a:xfrm rot="16200000">
            <a:off x="6148441" y="4506186"/>
            <a:ext cx="167045" cy="147220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A8593E8-7218-6171-FA95-4C5F70538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895" y="5986432"/>
            <a:ext cx="5994581" cy="34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6DFC5EBC-3210-6292-8A39-BAD35FD43F2A}"/>
              </a:ext>
            </a:extLst>
          </p:cNvPr>
          <p:cNvGrpSpPr/>
          <p:nvPr/>
        </p:nvGrpSpPr>
        <p:grpSpPr>
          <a:xfrm>
            <a:off x="3898678" y="5459905"/>
            <a:ext cx="4009547" cy="677108"/>
            <a:chOff x="4220411" y="5542766"/>
            <a:chExt cx="4009547" cy="677108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5C2A0D6-FAF7-7B9A-83EB-7A6284E7855B}"/>
                </a:ext>
              </a:extLst>
            </p:cNvPr>
            <p:cNvSpPr txBox="1"/>
            <p:nvPr/>
          </p:nvSpPr>
          <p:spPr>
            <a:xfrm>
              <a:off x="4220411" y="5542766"/>
              <a:ext cx="400954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err="1"/>
                <a:t>Minres</a:t>
              </a:r>
              <a:r>
                <a:rPr lang="fr-FR" sz="2000" b="1" dirty="0"/>
                <a:t> to </a:t>
              </a:r>
              <a:r>
                <a:rPr lang="fr-FR" sz="2000" b="1" dirty="0" err="1"/>
                <a:t>find</a:t>
              </a:r>
              <a:endParaRPr lang="fr-FR" sz="2000" b="1" dirty="0"/>
            </a:p>
            <a:p>
              <a:pPr algn="ctr"/>
              <a:endParaRPr lang="en-GB" b="1" dirty="0"/>
            </a:p>
          </p:txBody>
        </p:sp>
        <p:pic>
          <p:nvPicPr>
            <p:cNvPr id="22" name="Picture 10">
              <a:extLst>
                <a:ext uri="{FF2B5EF4-FFF2-40B4-BE49-F238E27FC236}">
                  <a16:creationId xmlns:a16="http://schemas.microsoft.com/office/drawing/2014/main" id="{08A80FD9-43E4-907B-79E6-1DBB19B67F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49" t="-1" r="20952" b="-11618"/>
            <a:stretch>
              <a:fillRect/>
            </a:stretch>
          </p:blipFill>
          <p:spPr bwMode="auto">
            <a:xfrm>
              <a:off x="7138402" y="5609108"/>
              <a:ext cx="760997" cy="329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5E23B8B-0CCF-4B02-C9CE-4057C3D69CE3}"/>
              </a:ext>
            </a:extLst>
          </p:cNvPr>
          <p:cNvCxnSpPr>
            <a:cxnSpLocks/>
          </p:cNvCxnSpPr>
          <p:nvPr/>
        </p:nvCxnSpPr>
        <p:spPr>
          <a:xfrm rot="10800000">
            <a:off x="1528997" y="1409075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29" name="Groupe 1028">
            <a:extLst>
              <a:ext uri="{FF2B5EF4-FFF2-40B4-BE49-F238E27FC236}">
                <a16:creationId xmlns:a16="http://schemas.microsoft.com/office/drawing/2014/main" id="{3203581A-96C0-D8E5-6C6D-D34137D98548}"/>
              </a:ext>
            </a:extLst>
          </p:cNvPr>
          <p:cNvGrpSpPr/>
          <p:nvPr/>
        </p:nvGrpSpPr>
        <p:grpSpPr>
          <a:xfrm>
            <a:off x="1716374" y="1551482"/>
            <a:ext cx="1064333" cy="1877518"/>
            <a:chOff x="1716374" y="1551482"/>
            <a:chExt cx="1971206" cy="1877518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BD1A1185-1541-E108-E2A1-10E61785E30E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896256"/>
              <a:ext cx="197120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592A7B7C-654C-B907-A800-1E8A7B7A30AF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288498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A8D8DDA1-9797-042E-EE72-3CF693D7B49F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941886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7D2704DD-0067-E2F1-961F-AB5DC8E84F61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3429000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B636F865-59DC-773A-AE74-DE42C8CBE95E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551482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2E8823CF-AF79-B712-9E54-C43DF0E0C687}"/>
              </a:ext>
            </a:extLst>
          </p:cNvPr>
          <p:cNvCxnSpPr>
            <a:cxnSpLocks/>
          </p:cNvCxnSpPr>
          <p:nvPr/>
        </p:nvCxnSpPr>
        <p:spPr>
          <a:xfrm>
            <a:off x="1398661" y="3752448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EFDCDDF9-7C4E-2679-D98F-E4659B81FCBD}"/>
                  </a:ext>
                </a:extLst>
              </p:cNvPr>
              <p:cNvSpPr txBox="1"/>
              <p:nvPr/>
            </p:nvSpPr>
            <p:spPr>
              <a:xfrm>
                <a:off x="2798868" y="2739363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4A26D8C9-D5EF-06BA-680B-122D8497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868" y="2739363"/>
                <a:ext cx="1219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441F26DA-5C1F-D3C5-4A68-948315122495}"/>
                  </a:ext>
                </a:extLst>
              </p:cNvPr>
              <p:cNvSpPr txBox="1"/>
              <p:nvPr/>
            </p:nvSpPr>
            <p:spPr>
              <a:xfrm>
                <a:off x="2796436" y="2084398"/>
                <a:ext cx="1219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38D3D469-1F6A-332E-B9C9-D6A2367D4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2084398"/>
                <a:ext cx="1219200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F08C92AA-5D19-BFBA-7187-4CD7D015EE3F}"/>
                  </a:ext>
                </a:extLst>
              </p:cNvPr>
              <p:cNvSpPr txBox="1"/>
              <p:nvPr/>
            </p:nvSpPr>
            <p:spPr>
              <a:xfrm>
                <a:off x="2796436" y="1311168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0B5C1D9E-297A-0F19-CFBF-54876A077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1311168"/>
                <a:ext cx="1219200" cy="7328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A79392C0-00B9-220B-385B-4281ED8D2238}"/>
                  </a:ext>
                </a:extLst>
              </p:cNvPr>
              <p:cNvSpPr txBox="1"/>
              <p:nvPr/>
            </p:nvSpPr>
            <p:spPr>
              <a:xfrm>
                <a:off x="2796436" y="1703706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E5C6A06E-9D66-0043-9338-1D98B457E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36" y="1703706"/>
                <a:ext cx="1219200" cy="7328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DB2D212A-6032-B4A3-4293-34A7D85EA9AE}"/>
              </a:ext>
            </a:extLst>
          </p:cNvPr>
          <p:cNvSpPr txBox="1"/>
          <p:nvPr/>
        </p:nvSpPr>
        <p:spPr>
          <a:xfrm>
            <a:off x="1603049" y="2323088"/>
            <a:ext cx="1219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b="1" dirty="0"/>
              <a:t>…</a:t>
            </a:r>
            <a:endParaRPr lang="en-GB" sz="25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676EC420-3C5B-CB1A-AD1D-1807C9CBFE5F}"/>
                  </a:ext>
                </a:extLst>
              </p:cNvPr>
              <p:cNvSpPr txBox="1"/>
              <p:nvPr/>
            </p:nvSpPr>
            <p:spPr>
              <a:xfrm>
                <a:off x="2892580" y="3236591"/>
                <a:ext cx="98438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ar-AE" sz="2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A04B0117-C273-3D89-BB0A-97541D33D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580" y="3236591"/>
                <a:ext cx="984383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824D0A13-D5F4-DD4C-9553-03AEFADD7761}"/>
                  </a:ext>
                </a:extLst>
              </p:cNvPr>
              <p:cNvSpPr txBox="1"/>
              <p:nvPr/>
            </p:nvSpPr>
            <p:spPr>
              <a:xfrm>
                <a:off x="-380966" y="2195060"/>
                <a:ext cx="27116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D9CBD3A-8417-B90B-F78E-3E963067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0966" y="2195060"/>
                <a:ext cx="2711619" cy="707886"/>
              </a:xfrm>
              <a:prstGeom prst="rect">
                <a:avLst/>
              </a:prstGeom>
              <a:blipFill>
                <a:blip r:embed="rId10"/>
                <a:stretch>
                  <a:fillRect t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3" name="Connecteur droit avec flèche 1062">
            <a:extLst>
              <a:ext uri="{FF2B5EF4-FFF2-40B4-BE49-F238E27FC236}">
                <a16:creationId xmlns:a16="http://schemas.microsoft.com/office/drawing/2014/main" id="{7D82582E-5E54-39B7-C291-F24D63D042C7}"/>
              </a:ext>
            </a:extLst>
          </p:cNvPr>
          <p:cNvCxnSpPr>
            <a:cxnSpLocks/>
          </p:cNvCxnSpPr>
          <p:nvPr/>
        </p:nvCxnSpPr>
        <p:spPr>
          <a:xfrm rot="10800000">
            <a:off x="5406168" y="1409075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4" name="Groupe 1063">
            <a:extLst>
              <a:ext uri="{FF2B5EF4-FFF2-40B4-BE49-F238E27FC236}">
                <a16:creationId xmlns:a16="http://schemas.microsoft.com/office/drawing/2014/main" id="{C6010ECC-1AF8-044C-FAB3-7F9B24D52F8B}"/>
              </a:ext>
            </a:extLst>
          </p:cNvPr>
          <p:cNvGrpSpPr/>
          <p:nvPr/>
        </p:nvGrpSpPr>
        <p:grpSpPr>
          <a:xfrm>
            <a:off x="5593545" y="1551482"/>
            <a:ext cx="1064333" cy="1877518"/>
            <a:chOff x="1716374" y="1551482"/>
            <a:chExt cx="1971206" cy="1877518"/>
          </a:xfrm>
        </p:grpSpPr>
        <p:cxnSp>
          <p:nvCxnSpPr>
            <p:cNvPr id="1065" name="Connecteur droit 1064">
              <a:extLst>
                <a:ext uri="{FF2B5EF4-FFF2-40B4-BE49-F238E27FC236}">
                  <a16:creationId xmlns:a16="http://schemas.microsoft.com/office/drawing/2014/main" id="{13CF9E2E-40A7-95E3-D3CF-71045BB51737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896256"/>
              <a:ext cx="197120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Connecteur droit 1065">
              <a:extLst>
                <a:ext uri="{FF2B5EF4-FFF2-40B4-BE49-F238E27FC236}">
                  <a16:creationId xmlns:a16="http://schemas.microsoft.com/office/drawing/2014/main" id="{F73F68C9-E91E-488A-F892-1EC4DEB4F656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288498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Connecteur droit 1066">
              <a:extLst>
                <a:ext uri="{FF2B5EF4-FFF2-40B4-BE49-F238E27FC236}">
                  <a16:creationId xmlns:a16="http://schemas.microsoft.com/office/drawing/2014/main" id="{3387C0BB-BDB0-D5DB-D562-465C089AD6FE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2941886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Connecteur droit 1067">
              <a:extLst>
                <a:ext uri="{FF2B5EF4-FFF2-40B4-BE49-F238E27FC236}">
                  <a16:creationId xmlns:a16="http://schemas.microsoft.com/office/drawing/2014/main" id="{BC232EF3-192E-C19E-C613-2768C14AB44E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3429000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Connecteur droit 1068">
              <a:extLst>
                <a:ext uri="{FF2B5EF4-FFF2-40B4-BE49-F238E27FC236}">
                  <a16:creationId xmlns:a16="http://schemas.microsoft.com/office/drawing/2014/main" id="{A8181A04-1205-688B-3E45-50BBDAFFDD9C}"/>
                </a:ext>
              </a:extLst>
            </p:cNvPr>
            <p:cNvCxnSpPr>
              <a:cxnSpLocks/>
            </p:cNvCxnSpPr>
            <p:nvPr/>
          </p:nvCxnSpPr>
          <p:spPr>
            <a:xfrm>
              <a:off x="1716374" y="1551482"/>
              <a:ext cx="1971206" cy="0"/>
            </a:xfrm>
            <a:prstGeom prst="line">
              <a:avLst/>
            </a:prstGeom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1" name="Connecteur droit 1070">
            <a:extLst>
              <a:ext uri="{FF2B5EF4-FFF2-40B4-BE49-F238E27FC236}">
                <a16:creationId xmlns:a16="http://schemas.microsoft.com/office/drawing/2014/main" id="{4622F4E3-6DE3-4CF7-42CE-AF3484809A71}"/>
              </a:ext>
            </a:extLst>
          </p:cNvPr>
          <p:cNvCxnSpPr>
            <a:cxnSpLocks/>
          </p:cNvCxnSpPr>
          <p:nvPr/>
        </p:nvCxnSpPr>
        <p:spPr>
          <a:xfrm>
            <a:off x="5274428" y="1955753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2" name="ZoneTexte 1071">
                <a:extLst>
                  <a:ext uri="{FF2B5EF4-FFF2-40B4-BE49-F238E27FC236}">
                    <a16:creationId xmlns:a16="http://schemas.microsoft.com/office/drawing/2014/main" id="{CDD8F2E4-B2DC-C937-9D6F-2D46B3B1905C}"/>
                  </a:ext>
                </a:extLst>
              </p:cNvPr>
              <p:cNvSpPr txBox="1"/>
              <p:nvPr/>
            </p:nvSpPr>
            <p:spPr>
              <a:xfrm>
                <a:off x="6557705" y="2723198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2" name="ZoneTexte 1071">
                <a:extLst>
                  <a:ext uri="{FF2B5EF4-FFF2-40B4-BE49-F238E27FC236}">
                    <a16:creationId xmlns:a16="http://schemas.microsoft.com/office/drawing/2014/main" id="{CDD8F2E4-B2DC-C937-9D6F-2D46B3B19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05" y="2723198"/>
                <a:ext cx="1219200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ZoneTexte 1072">
                <a:extLst>
                  <a:ext uri="{FF2B5EF4-FFF2-40B4-BE49-F238E27FC236}">
                    <a16:creationId xmlns:a16="http://schemas.microsoft.com/office/drawing/2014/main" id="{7E4E339E-5E24-4F78-6A65-78C75C19E069}"/>
                  </a:ext>
                </a:extLst>
              </p:cNvPr>
              <p:cNvSpPr txBox="1"/>
              <p:nvPr/>
            </p:nvSpPr>
            <p:spPr>
              <a:xfrm>
                <a:off x="6600807" y="2075391"/>
                <a:ext cx="1219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3" name="ZoneTexte 1072">
                <a:extLst>
                  <a:ext uri="{FF2B5EF4-FFF2-40B4-BE49-F238E27FC236}">
                    <a16:creationId xmlns:a16="http://schemas.microsoft.com/office/drawing/2014/main" id="{7E4E339E-5E24-4F78-6A65-78C75C19E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07" y="2075391"/>
                <a:ext cx="1219200" cy="400110"/>
              </a:xfrm>
              <a:prstGeom prst="rect">
                <a:avLst/>
              </a:prstGeom>
              <a:blipFill>
                <a:blip r:embed="rId12"/>
                <a:stretch>
                  <a:fillRect l="-500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4" name="ZoneTexte 1073">
                <a:extLst>
                  <a:ext uri="{FF2B5EF4-FFF2-40B4-BE49-F238E27FC236}">
                    <a16:creationId xmlns:a16="http://schemas.microsoft.com/office/drawing/2014/main" id="{C8B01AB1-7182-CFC3-5579-AEB6207C5004}"/>
                  </a:ext>
                </a:extLst>
              </p:cNvPr>
              <p:cNvSpPr txBox="1"/>
              <p:nvPr/>
            </p:nvSpPr>
            <p:spPr>
              <a:xfrm>
                <a:off x="6568677" y="1311168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4" name="ZoneTexte 1073">
                <a:extLst>
                  <a:ext uri="{FF2B5EF4-FFF2-40B4-BE49-F238E27FC236}">
                    <a16:creationId xmlns:a16="http://schemas.microsoft.com/office/drawing/2014/main" id="{C8B01AB1-7182-CFC3-5579-AEB6207C5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677" y="1311168"/>
                <a:ext cx="1219200" cy="73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5" name="ZoneTexte 1074">
                <a:extLst>
                  <a:ext uri="{FF2B5EF4-FFF2-40B4-BE49-F238E27FC236}">
                    <a16:creationId xmlns:a16="http://schemas.microsoft.com/office/drawing/2014/main" id="{C6B61812-EBAC-51C3-C7FE-930CCF9105AC}"/>
                  </a:ext>
                </a:extLst>
              </p:cNvPr>
              <p:cNvSpPr txBox="1"/>
              <p:nvPr/>
            </p:nvSpPr>
            <p:spPr>
              <a:xfrm>
                <a:off x="6531202" y="1703706"/>
                <a:ext cx="1219200" cy="73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5" name="ZoneTexte 1074">
                <a:extLst>
                  <a:ext uri="{FF2B5EF4-FFF2-40B4-BE49-F238E27FC236}">
                    <a16:creationId xmlns:a16="http://schemas.microsoft.com/office/drawing/2014/main" id="{C6B61812-EBAC-51C3-C7FE-930CCF910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202" y="1703706"/>
                <a:ext cx="1219200" cy="73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6" name="ZoneTexte 1075">
            <a:extLst>
              <a:ext uri="{FF2B5EF4-FFF2-40B4-BE49-F238E27FC236}">
                <a16:creationId xmlns:a16="http://schemas.microsoft.com/office/drawing/2014/main" id="{D185260A-E2B9-BF9F-5D7E-E5DC318CFE9E}"/>
              </a:ext>
            </a:extLst>
          </p:cNvPr>
          <p:cNvSpPr txBox="1"/>
          <p:nvPr/>
        </p:nvSpPr>
        <p:spPr>
          <a:xfrm>
            <a:off x="5480220" y="2323088"/>
            <a:ext cx="1219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b="1" dirty="0"/>
              <a:t>…</a:t>
            </a:r>
            <a:endParaRPr lang="en-GB" sz="2500" b="1" dirty="0"/>
          </a:p>
        </p:txBody>
      </p:sp>
      <p:cxnSp>
        <p:nvCxnSpPr>
          <p:cNvPr id="1078" name="Connecteur droit avec flèche 1077">
            <a:extLst>
              <a:ext uri="{FF2B5EF4-FFF2-40B4-BE49-F238E27FC236}">
                <a16:creationId xmlns:a16="http://schemas.microsoft.com/office/drawing/2014/main" id="{1E46B8C3-FC69-AF99-692E-8EED5F73766E}"/>
              </a:ext>
            </a:extLst>
          </p:cNvPr>
          <p:cNvCxnSpPr>
            <a:cxnSpLocks/>
          </p:cNvCxnSpPr>
          <p:nvPr/>
        </p:nvCxnSpPr>
        <p:spPr>
          <a:xfrm rot="10800000">
            <a:off x="9513223" y="1436237"/>
            <a:ext cx="0" cy="23384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0" name="Connecteur droit 1079">
            <a:extLst>
              <a:ext uri="{FF2B5EF4-FFF2-40B4-BE49-F238E27FC236}">
                <a16:creationId xmlns:a16="http://schemas.microsoft.com/office/drawing/2014/main" id="{5E04AC2F-7F49-82DB-3D97-5512F6A94ADA}"/>
              </a:ext>
            </a:extLst>
          </p:cNvPr>
          <p:cNvCxnSpPr>
            <a:cxnSpLocks/>
          </p:cNvCxnSpPr>
          <p:nvPr/>
        </p:nvCxnSpPr>
        <p:spPr>
          <a:xfrm>
            <a:off x="9700600" y="1856106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eur droit 1080">
            <a:extLst>
              <a:ext uri="{FF2B5EF4-FFF2-40B4-BE49-F238E27FC236}">
                <a16:creationId xmlns:a16="http://schemas.microsoft.com/office/drawing/2014/main" id="{36114E2C-2A93-D86D-00E5-DD0445EDC0BA}"/>
              </a:ext>
            </a:extLst>
          </p:cNvPr>
          <p:cNvCxnSpPr>
            <a:cxnSpLocks/>
          </p:cNvCxnSpPr>
          <p:nvPr/>
        </p:nvCxnSpPr>
        <p:spPr>
          <a:xfrm>
            <a:off x="9748500" y="3829333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eur droit 1081">
            <a:extLst>
              <a:ext uri="{FF2B5EF4-FFF2-40B4-BE49-F238E27FC236}">
                <a16:creationId xmlns:a16="http://schemas.microsoft.com/office/drawing/2014/main" id="{C7A78419-CC7F-F121-B434-A63FE7B29024}"/>
              </a:ext>
            </a:extLst>
          </p:cNvPr>
          <p:cNvCxnSpPr>
            <a:cxnSpLocks/>
          </p:cNvCxnSpPr>
          <p:nvPr/>
        </p:nvCxnSpPr>
        <p:spPr>
          <a:xfrm>
            <a:off x="9748500" y="3513060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eur droit 1082">
            <a:extLst>
              <a:ext uri="{FF2B5EF4-FFF2-40B4-BE49-F238E27FC236}">
                <a16:creationId xmlns:a16="http://schemas.microsoft.com/office/drawing/2014/main" id="{4C55BC83-8172-C26F-E36A-1D12A0C2B1F1}"/>
              </a:ext>
            </a:extLst>
          </p:cNvPr>
          <p:cNvCxnSpPr>
            <a:cxnSpLocks/>
          </p:cNvCxnSpPr>
          <p:nvPr/>
        </p:nvCxnSpPr>
        <p:spPr>
          <a:xfrm>
            <a:off x="9748500" y="3944477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eur droit 1083">
            <a:extLst>
              <a:ext uri="{FF2B5EF4-FFF2-40B4-BE49-F238E27FC236}">
                <a16:creationId xmlns:a16="http://schemas.microsoft.com/office/drawing/2014/main" id="{291AF86D-75F6-9419-608A-8EBC23DA1955}"/>
              </a:ext>
            </a:extLst>
          </p:cNvPr>
          <p:cNvCxnSpPr>
            <a:cxnSpLocks/>
          </p:cNvCxnSpPr>
          <p:nvPr/>
        </p:nvCxnSpPr>
        <p:spPr>
          <a:xfrm>
            <a:off x="9739981" y="3407148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eur droit 1085">
            <a:extLst>
              <a:ext uri="{FF2B5EF4-FFF2-40B4-BE49-F238E27FC236}">
                <a16:creationId xmlns:a16="http://schemas.microsoft.com/office/drawing/2014/main" id="{0C17D030-9C34-81F1-0A04-365071BF9EF6}"/>
              </a:ext>
            </a:extLst>
          </p:cNvPr>
          <p:cNvCxnSpPr>
            <a:cxnSpLocks/>
          </p:cNvCxnSpPr>
          <p:nvPr/>
        </p:nvCxnSpPr>
        <p:spPr>
          <a:xfrm>
            <a:off x="9382887" y="3779610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0" name="ZoneTexte 1089">
                <a:extLst>
                  <a:ext uri="{FF2B5EF4-FFF2-40B4-BE49-F238E27FC236}">
                    <a16:creationId xmlns:a16="http://schemas.microsoft.com/office/drawing/2014/main" id="{F1F488E2-2071-D054-CD60-3624A9F22D8A}"/>
                  </a:ext>
                </a:extLst>
              </p:cNvPr>
              <p:cNvSpPr txBox="1"/>
              <p:nvPr/>
            </p:nvSpPr>
            <p:spPr>
              <a:xfrm>
                <a:off x="10459484" y="1487632"/>
                <a:ext cx="1219200" cy="1286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fr-FR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0" name="ZoneTexte 1089">
                <a:extLst>
                  <a:ext uri="{FF2B5EF4-FFF2-40B4-BE49-F238E27FC236}">
                    <a16:creationId xmlns:a16="http://schemas.microsoft.com/office/drawing/2014/main" id="{F1F488E2-2071-D054-CD60-3624A9F22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484" y="1487632"/>
                <a:ext cx="1219200" cy="128605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2" name="ZoneTexte 1091">
                <a:extLst>
                  <a:ext uri="{FF2B5EF4-FFF2-40B4-BE49-F238E27FC236}">
                    <a16:creationId xmlns:a16="http://schemas.microsoft.com/office/drawing/2014/main" id="{68C724B8-F8E6-09A7-CD89-FD9117F68F46}"/>
                  </a:ext>
                </a:extLst>
              </p:cNvPr>
              <p:cNvSpPr txBox="1"/>
              <p:nvPr/>
            </p:nvSpPr>
            <p:spPr>
              <a:xfrm>
                <a:off x="7345990" y="2148204"/>
                <a:ext cx="2711619" cy="1330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sz="2000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1092" name="ZoneTexte 1091">
                <a:extLst>
                  <a:ext uri="{FF2B5EF4-FFF2-40B4-BE49-F238E27FC236}">
                    <a16:creationId xmlns:a16="http://schemas.microsoft.com/office/drawing/2014/main" id="{68C724B8-F8E6-09A7-CD89-FD9117F68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90" y="2148204"/>
                <a:ext cx="2711619" cy="1330429"/>
              </a:xfrm>
              <a:prstGeom prst="rect">
                <a:avLst/>
              </a:prstGeom>
              <a:blipFill>
                <a:blip r:embed="rId16"/>
                <a:stretch>
                  <a:fillRect t="-2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3" name="ZoneTexte 1092">
                <a:extLst>
                  <a:ext uri="{FF2B5EF4-FFF2-40B4-BE49-F238E27FC236}">
                    <a16:creationId xmlns:a16="http://schemas.microsoft.com/office/drawing/2014/main" id="{77E47454-EC6A-5314-F55D-1C1AD3737F93}"/>
                  </a:ext>
                </a:extLst>
              </p:cNvPr>
              <p:cNvSpPr txBox="1"/>
              <p:nvPr/>
            </p:nvSpPr>
            <p:spPr>
              <a:xfrm>
                <a:off x="3486588" y="2153610"/>
                <a:ext cx="27116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𝑰𝒅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093" name="ZoneTexte 1092">
                <a:extLst>
                  <a:ext uri="{FF2B5EF4-FFF2-40B4-BE49-F238E27FC236}">
                    <a16:creationId xmlns:a16="http://schemas.microsoft.com/office/drawing/2014/main" id="{81DE5462-3590-969B-6133-04E9BC121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88" y="2153610"/>
                <a:ext cx="2711619" cy="707886"/>
              </a:xfrm>
              <a:prstGeom prst="rect">
                <a:avLst/>
              </a:prstGeom>
              <a:blipFill>
                <a:blip r:embed="rId19"/>
                <a:stretch>
                  <a:fillRect t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59DB617-2CE0-BF17-BCE0-4B0FB0A46A01}"/>
                  </a:ext>
                </a:extLst>
              </p:cNvPr>
              <p:cNvSpPr txBox="1"/>
              <p:nvPr/>
            </p:nvSpPr>
            <p:spPr>
              <a:xfrm>
                <a:off x="6575866" y="3205080"/>
                <a:ext cx="1219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59DB617-2CE0-BF17-BCE0-4B0FB0A4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866" y="3205080"/>
                <a:ext cx="1219200" cy="70788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5F5267C-69CD-3F0E-4A38-E467D8C43775}"/>
              </a:ext>
            </a:extLst>
          </p:cNvPr>
          <p:cNvCxnSpPr>
            <a:cxnSpLocks/>
          </p:cNvCxnSpPr>
          <p:nvPr/>
        </p:nvCxnSpPr>
        <p:spPr>
          <a:xfrm>
            <a:off x="9748500" y="366846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C95F345-B272-70D2-46DB-CEF55ED50B79}"/>
                  </a:ext>
                </a:extLst>
              </p:cNvPr>
              <p:cNvSpPr txBox="1"/>
              <p:nvPr/>
            </p:nvSpPr>
            <p:spPr>
              <a:xfrm>
                <a:off x="10704179" y="3317654"/>
                <a:ext cx="1219200" cy="1338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fr-FR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C95F345-B272-70D2-46DB-CEF55ED50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179" y="3317654"/>
                <a:ext cx="1219200" cy="133805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7A0F721-3C2E-2724-6FC3-FB4AFBCB3D0F}"/>
              </a:ext>
            </a:extLst>
          </p:cNvPr>
          <p:cNvCxnSpPr>
            <a:cxnSpLocks/>
          </p:cNvCxnSpPr>
          <p:nvPr/>
        </p:nvCxnSpPr>
        <p:spPr>
          <a:xfrm>
            <a:off x="5274428" y="3730944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69B5579-2846-E5F4-1470-DB22AD82D7C5}"/>
                  </a:ext>
                </a:extLst>
              </p:cNvPr>
              <p:cNvSpPr txBox="1"/>
              <p:nvPr/>
            </p:nvSpPr>
            <p:spPr>
              <a:xfrm>
                <a:off x="4763298" y="3543634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fr-FR" b="1" dirty="0"/>
                  <a:t> </a:t>
                </a:r>
                <a:endParaRPr lang="en-GB" b="1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69B5579-2846-E5F4-1470-DB22AD82D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298" y="3543634"/>
                <a:ext cx="6552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8B34837-2D28-9FDC-5CC1-42051675569D}"/>
                  </a:ext>
                </a:extLst>
              </p:cNvPr>
              <p:cNvSpPr txBox="1"/>
              <p:nvPr/>
            </p:nvSpPr>
            <p:spPr>
              <a:xfrm>
                <a:off x="4785760" y="1778872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8B34837-2D28-9FDC-5CC1-420516755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60" y="1778872"/>
                <a:ext cx="65526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745B83E-A95E-9525-3449-A59D2A56C950}"/>
                  </a:ext>
                </a:extLst>
              </p:cNvPr>
              <p:cNvSpPr txBox="1"/>
              <p:nvPr/>
            </p:nvSpPr>
            <p:spPr>
              <a:xfrm>
                <a:off x="902256" y="3579831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745B83E-A95E-9525-3449-A59D2A56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56" y="3579831"/>
                <a:ext cx="65526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29464CA-D46F-8B5F-D508-762E70A8E0C4}"/>
                  </a:ext>
                </a:extLst>
              </p:cNvPr>
              <p:cNvSpPr txBox="1"/>
              <p:nvPr/>
            </p:nvSpPr>
            <p:spPr>
              <a:xfrm>
                <a:off x="8879226" y="3602826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29464CA-D46F-8B5F-D508-762E70A8E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226" y="3602826"/>
                <a:ext cx="65526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31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DCEF-E2E1-5A78-8B7A-E7FA8397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22DB79B-5A89-C80F-FA6E-C80DCD24FE00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How to check the accuracy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BB3A46-799D-74F8-88CC-A6DD0A79C80D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63797C3-6CD2-FC16-BF01-6EFFBBF4629B}"/>
              </a:ext>
            </a:extLst>
          </p:cNvPr>
          <p:cNvSpPr txBox="1"/>
          <p:nvPr/>
        </p:nvSpPr>
        <p:spPr>
          <a:xfrm>
            <a:off x="3759923" y="1238781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Reference ?</a:t>
            </a:r>
            <a:r>
              <a:rPr lang="fr-FR" dirty="0"/>
              <a:t> </a:t>
            </a:r>
            <a:endParaRPr lang="en-GB" dirty="0"/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9058B594-4489-37AA-9CF1-E9EDB2EEEB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t="51377" r="64651" b="31060"/>
          <a:stretch>
            <a:fillRect/>
          </a:stretch>
        </p:blipFill>
        <p:spPr bwMode="auto">
          <a:xfrm>
            <a:off x="5034017" y="1238780"/>
            <a:ext cx="1291506" cy="4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BC74506-A42E-3920-4C43-EE377281AD7A}"/>
              </a:ext>
            </a:extLst>
          </p:cNvPr>
          <p:cNvSpPr txBox="1"/>
          <p:nvPr/>
        </p:nvSpPr>
        <p:spPr>
          <a:xfrm>
            <a:off x="6325523" y="1238780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Not computable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54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2D56-6FF6-FA85-B0F1-5EE05B93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D305833-76AB-B11A-FD2E-1649FB7781CA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How to check the accuracy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98E491-A3CC-CCAC-EAEB-0CE2C7710442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A9DC5FC-BFB0-6281-870D-ED92F4242674}"/>
              </a:ext>
            </a:extLst>
          </p:cNvPr>
          <p:cNvSpPr txBox="1"/>
          <p:nvPr/>
        </p:nvSpPr>
        <p:spPr>
          <a:xfrm>
            <a:off x="3759923" y="1238781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Reference ?</a:t>
            </a:r>
            <a:r>
              <a:rPr lang="fr-FR" dirty="0"/>
              <a:t> </a:t>
            </a:r>
            <a:endParaRPr lang="en-GB" dirty="0"/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E3265B14-A707-9343-C27A-3C024E04A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t="51377" r="64651" b="31060"/>
          <a:stretch>
            <a:fillRect/>
          </a:stretch>
        </p:blipFill>
        <p:spPr bwMode="auto">
          <a:xfrm>
            <a:off x="5034017" y="1238780"/>
            <a:ext cx="1291506" cy="4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04FA6752-2ACD-3B88-1551-F21272A8E9A5}"/>
              </a:ext>
            </a:extLst>
          </p:cNvPr>
          <p:cNvSpPr txBox="1"/>
          <p:nvPr/>
        </p:nvSpPr>
        <p:spPr>
          <a:xfrm>
            <a:off x="6325523" y="1238780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Not computable</a:t>
            </a:r>
            <a:endParaRPr lang="en-GB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46ECCDE-9612-A005-821C-641EC5997B73}"/>
              </a:ext>
            </a:extLst>
          </p:cNvPr>
          <p:cNvCxnSpPr/>
          <p:nvPr/>
        </p:nvCxnSpPr>
        <p:spPr>
          <a:xfrm>
            <a:off x="254000" y="1871133"/>
            <a:ext cx="115739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Image 36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803685FC-940A-471A-A126-F39D25523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5" y="3272367"/>
            <a:ext cx="4972205" cy="3429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65F4CB73-69B9-0469-D7E5-F2D17952A7F6}"/>
              </a:ext>
            </a:extLst>
          </p:cNvPr>
          <p:cNvSpPr txBox="1"/>
          <p:nvPr/>
        </p:nvSpPr>
        <p:spPr>
          <a:xfrm>
            <a:off x="-1258188" y="2045836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dirty="0">
                <a:highlight>
                  <a:srgbClr val="FFFF00"/>
                </a:highlight>
              </a:rPr>
              <a:t>Check convergence </a:t>
            </a:r>
            <a:r>
              <a:rPr lang="fr-FR" sz="2200" dirty="0" err="1">
                <a:highlight>
                  <a:srgbClr val="FFFF00"/>
                </a:highlight>
              </a:rPr>
              <a:t>toward</a:t>
            </a:r>
            <a:r>
              <a:rPr lang="fr-FR" sz="2200" dirty="0">
                <a:highlight>
                  <a:srgbClr val="FFFF00"/>
                </a:highlight>
              </a:rPr>
              <a:t> </a:t>
            </a:r>
            <a:r>
              <a:rPr lang="fr-FR" sz="2200" dirty="0" err="1">
                <a:highlight>
                  <a:srgbClr val="FFFF00"/>
                </a:highlight>
              </a:rPr>
              <a:t>eigenvalue</a:t>
            </a:r>
            <a:r>
              <a:rPr lang="fr-FR" sz="2200" dirty="0">
                <a:highlight>
                  <a:srgbClr val="FFFF00"/>
                </a:highlight>
              </a:rPr>
              <a:t> : Variance</a:t>
            </a:r>
            <a:endParaRPr lang="en-GB" dirty="0">
              <a:highlight>
                <a:srgbClr val="FFFF00"/>
              </a:highlight>
            </a:endParaRPr>
          </a:p>
        </p:txBody>
      </p:sp>
      <p:pic>
        <p:nvPicPr>
          <p:cNvPr id="10255" name="Picture 15">
            <a:extLst>
              <a:ext uri="{FF2B5EF4-FFF2-40B4-BE49-F238E27FC236}">
                <a16:creationId xmlns:a16="http://schemas.microsoft.com/office/drawing/2014/main" id="{34B30FB2-F6C0-802D-31E8-D6D235388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35" y="2606275"/>
            <a:ext cx="4698244" cy="3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28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32D5A-B525-9923-A39B-CB870949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C00352D5-9631-BDB8-6973-C160D79F3B58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How to check the accuracy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2142A1-1AC6-C750-BF13-0920B8384B53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B483B8F-F081-9C52-A894-05A14EB14B7A}"/>
              </a:ext>
            </a:extLst>
          </p:cNvPr>
          <p:cNvSpPr txBox="1"/>
          <p:nvPr/>
        </p:nvSpPr>
        <p:spPr>
          <a:xfrm>
            <a:off x="3759923" y="1238781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Reference ?</a:t>
            </a:r>
            <a:r>
              <a:rPr lang="fr-FR" dirty="0"/>
              <a:t> </a:t>
            </a:r>
            <a:endParaRPr lang="en-GB" dirty="0"/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5A5A55DB-0FAB-42A6-A2AE-FCF35D713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t="51377" r="64651" b="31060"/>
          <a:stretch>
            <a:fillRect/>
          </a:stretch>
        </p:blipFill>
        <p:spPr bwMode="auto">
          <a:xfrm>
            <a:off x="5034017" y="1238780"/>
            <a:ext cx="1291506" cy="4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3186674A-FF2B-72FA-2A85-0A9CE61EDACC}"/>
              </a:ext>
            </a:extLst>
          </p:cNvPr>
          <p:cNvSpPr txBox="1"/>
          <p:nvPr/>
        </p:nvSpPr>
        <p:spPr>
          <a:xfrm>
            <a:off x="6325523" y="1238780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Not computable</a:t>
            </a:r>
            <a:endParaRPr lang="en-GB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7323388-F057-0E41-BD60-FEA31E1CF1F3}"/>
              </a:ext>
            </a:extLst>
          </p:cNvPr>
          <p:cNvCxnSpPr/>
          <p:nvPr/>
        </p:nvCxnSpPr>
        <p:spPr>
          <a:xfrm>
            <a:off x="254000" y="1871133"/>
            <a:ext cx="115739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ED5590D-B07D-850A-B51A-FF8E0569A7A2}"/>
              </a:ext>
            </a:extLst>
          </p:cNvPr>
          <p:cNvCxnSpPr>
            <a:cxnSpLocks/>
          </p:cNvCxnSpPr>
          <p:nvPr/>
        </p:nvCxnSpPr>
        <p:spPr>
          <a:xfrm>
            <a:off x="6240380" y="2208018"/>
            <a:ext cx="0" cy="38462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Image 36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284BE24A-9575-A523-B6AA-5442CF8F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5" y="3272367"/>
            <a:ext cx="4972205" cy="3429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A2433291-E941-1CAF-AF2A-F7C5D836C8D4}"/>
              </a:ext>
            </a:extLst>
          </p:cNvPr>
          <p:cNvSpPr txBox="1"/>
          <p:nvPr/>
        </p:nvSpPr>
        <p:spPr>
          <a:xfrm>
            <a:off x="-1258188" y="2045836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dirty="0">
                <a:highlight>
                  <a:srgbClr val="FFFF00"/>
                </a:highlight>
              </a:rPr>
              <a:t>Check convergence </a:t>
            </a:r>
            <a:r>
              <a:rPr lang="fr-FR" sz="2200" dirty="0" err="1">
                <a:highlight>
                  <a:srgbClr val="FFFF00"/>
                </a:highlight>
              </a:rPr>
              <a:t>toward</a:t>
            </a:r>
            <a:r>
              <a:rPr lang="fr-FR" sz="2200" dirty="0">
                <a:highlight>
                  <a:srgbClr val="FFFF00"/>
                </a:highlight>
              </a:rPr>
              <a:t> </a:t>
            </a:r>
            <a:r>
              <a:rPr lang="fr-FR" sz="2200" dirty="0" err="1">
                <a:highlight>
                  <a:srgbClr val="FFFF00"/>
                </a:highlight>
              </a:rPr>
              <a:t>eigenvalue</a:t>
            </a:r>
            <a:r>
              <a:rPr lang="fr-FR" sz="2200" dirty="0">
                <a:highlight>
                  <a:srgbClr val="FFFF00"/>
                </a:highlight>
              </a:rPr>
              <a:t> : Variance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A61288C-5D39-113E-F120-27F3A22008A3}"/>
              </a:ext>
            </a:extLst>
          </p:cNvPr>
          <p:cNvSpPr txBox="1"/>
          <p:nvPr/>
        </p:nvSpPr>
        <p:spPr>
          <a:xfrm>
            <a:off x="4698242" y="2060966"/>
            <a:ext cx="8691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dirty="0">
                <a:highlight>
                  <a:srgbClr val="FFFF00"/>
                </a:highlight>
              </a:rPr>
              <a:t>Check if </a:t>
            </a:r>
            <a:r>
              <a:rPr lang="fr-FR" sz="2200" dirty="0" err="1">
                <a:highlight>
                  <a:srgbClr val="FFFF00"/>
                </a:highlight>
              </a:rPr>
              <a:t>didn’t</a:t>
            </a:r>
            <a:r>
              <a:rPr lang="fr-FR" sz="2200" dirty="0">
                <a:highlight>
                  <a:srgbClr val="FFFF00"/>
                </a:highlight>
              </a:rPr>
              <a:t> jump : </a:t>
            </a:r>
            <a:r>
              <a:rPr lang="fr-FR" sz="2200" dirty="0" err="1">
                <a:highlight>
                  <a:srgbClr val="FFFF00"/>
                </a:highlight>
              </a:rPr>
              <a:t>Overlap</a:t>
            </a:r>
            <a:endParaRPr lang="en-GB" dirty="0">
              <a:highlight>
                <a:srgbClr val="FFFF00"/>
              </a:highlight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BB4B338B-C67E-7828-7FA5-9F11A4D48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47" y="3272367"/>
            <a:ext cx="4972205" cy="3429000"/>
          </a:xfrm>
          <a:prstGeom prst="rect">
            <a:avLst/>
          </a:prstGeom>
        </p:spPr>
      </p:pic>
      <p:pic>
        <p:nvPicPr>
          <p:cNvPr id="10255" name="Picture 15">
            <a:extLst>
              <a:ext uri="{FF2B5EF4-FFF2-40B4-BE49-F238E27FC236}">
                <a16:creationId xmlns:a16="http://schemas.microsoft.com/office/drawing/2014/main" id="{804EEC7F-051C-3BF6-0A17-B2A748BD6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35" y="2606275"/>
            <a:ext cx="4698244" cy="3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5C6FAB1-9BEE-9846-0213-6349131B8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927" y="2651648"/>
            <a:ext cx="1989528" cy="31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058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9AF9-8A75-4B5A-BDAC-BDF722B6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F6EBE1B-028E-581B-BA25-0FD4815E791C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shift parameter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02818A-F9F7-BB55-DCD9-7530BD1FE67A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22FA2D7-DF6E-3617-48D3-A1C11E12B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96630" y="1339160"/>
            <a:ext cx="6607934" cy="32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F0AD3E13-45F6-C6A3-D806-DD73FE3FE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86" y="1968104"/>
            <a:ext cx="4399422" cy="26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5767CD15-9C67-2CF9-ECBE-BFB7EFEEF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5" y="2958643"/>
            <a:ext cx="5587997" cy="361623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851E5F4-1C1E-6BA0-42DC-3A2EB33D5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8335" y="3071260"/>
            <a:ext cx="5934998" cy="3390996"/>
          </a:xfrm>
          <a:prstGeom prst="rect">
            <a:avLst/>
          </a:prstGeom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1CF7179-34A7-4783-503A-4238B555038B}"/>
              </a:ext>
            </a:extLst>
          </p:cNvPr>
          <p:cNvCxnSpPr>
            <a:cxnSpLocks/>
          </p:cNvCxnSpPr>
          <p:nvPr/>
        </p:nvCxnSpPr>
        <p:spPr>
          <a:xfrm flipV="1">
            <a:off x="8984281" y="1091447"/>
            <a:ext cx="0" cy="15532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153B157-04B5-046A-029A-40DF96D1B91E}"/>
              </a:ext>
            </a:extLst>
          </p:cNvPr>
          <p:cNvCxnSpPr>
            <a:cxnSpLocks/>
          </p:cNvCxnSpPr>
          <p:nvPr/>
        </p:nvCxnSpPr>
        <p:spPr>
          <a:xfrm>
            <a:off x="9219557" y="1383350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F69D58C-4B50-4776-0D13-BD25C56EA991}"/>
              </a:ext>
            </a:extLst>
          </p:cNvPr>
          <p:cNvCxnSpPr>
            <a:cxnSpLocks/>
          </p:cNvCxnSpPr>
          <p:nvPr/>
        </p:nvCxnSpPr>
        <p:spPr>
          <a:xfrm>
            <a:off x="9219558" y="2699352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CCD096DF-CEED-228B-1C1C-F04B5A53C358}"/>
              </a:ext>
            </a:extLst>
          </p:cNvPr>
          <p:cNvCxnSpPr>
            <a:cxnSpLocks/>
          </p:cNvCxnSpPr>
          <p:nvPr/>
        </p:nvCxnSpPr>
        <p:spPr>
          <a:xfrm>
            <a:off x="9219558" y="281449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89D2A88F-9F61-CF20-D04F-A43AE0475565}"/>
              </a:ext>
            </a:extLst>
          </p:cNvPr>
          <p:cNvCxnSpPr>
            <a:cxnSpLocks/>
          </p:cNvCxnSpPr>
          <p:nvPr/>
        </p:nvCxnSpPr>
        <p:spPr>
          <a:xfrm>
            <a:off x="8853945" y="2649629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3AE4F7B5-06F6-7B6A-C3D3-F6196083BCF3}"/>
                  </a:ext>
                </a:extLst>
              </p:cNvPr>
              <p:cNvSpPr txBox="1"/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𝑖𝑓𝑡</m:t>
                          </m:r>
                        </m:den>
                      </m:f>
                    </m:oMath>
                  </m:oMathPara>
                </a14:m>
                <a:endParaRPr lang="fr-FR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3AE4F7B5-06F6-7B6A-C3D3-F6196083B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A553657-F03E-A04F-5BB1-5F906E0F5133}"/>
                  </a:ext>
                </a:extLst>
              </p:cNvPr>
              <p:cNvSpPr txBox="1"/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A553657-F03E-A04F-5BB1-5F906E0F5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blipFill>
                <a:blip r:embed="rId7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0556D02-D557-07FD-8A8C-984D1141DA6C}"/>
              </a:ext>
            </a:extLst>
          </p:cNvPr>
          <p:cNvCxnSpPr>
            <a:cxnSpLocks/>
          </p:cNvCxnSpPr>
          <p:nvPr/>
        </p:nvCxnSpPr>
        <p:spPr>
          <a:xfrm>
            <a:off x="9219558" y="2538485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3030EE2B-0DEF-F1FC-1E75-57FF562D7A6E}"/>
                  </a:ext>
                </a:extLst>
              </p:cNvPr>
              <p:cNvSpPr txBox="1"/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3030EE2B-0DEF-F1FC-1E75-57FF562D7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648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DE1F-4C70-B1D8-070A-DAB1BE73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C1E9F6D0-0820-8E74-BB2F-D35F7DE60AE8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shift parameter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9148CB-B480-B5B0-43AE-CEC726C3A691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ED17A7E-D515-20D2-4977-625432DCC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96630" y="1339160"/>
            <a:ext cx="6607934" cy="32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E4CDB9BE-A0AB-899E-D475-4B26DEDDE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86" y="1968104"/>
            <a:ext cx="4399422" cy="26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017B9A20-2A27-4B92-DB4C-D4C4BE80D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5" y="2958643"/>
            <a:ext cx="5587997" cy="361623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55EF661-1ED5-856A-48F3-C706F5132E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8335" y="3071260"/>
            <a:ext cx="5934998" cy="33909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9C8C03-7653-2798-A040-772BD2D74E49}"/>
              </a:ext>
            </a:extLst>
          </p:cNvPr>
          <p:cNvSpPr/>
          <p:nvPr/>
        </p:nvSpPr>
        <p:spPr>
          <a:xfrm>
            <a:off x="762000" y="3230033"/>
            <a:ext cx="1716617" cy="285115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05ED2-B063-5331-4AD3-ACB6E25C07D3}"/>
              </a:ext>
            </a:extLst>
          </p:cNvPr>
          <p:cNvSpPr/>
          <p:nvPr/>
        </p:nvSpPr>
        <p:spPr>
          <a:xfrm>
            <a:off x="6453265" y="3372787"/>
            <a:ext cx="2026171" cy="257081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EBE5191-11CD-3A9F-F5D2-29A6BD55BFBB}"/>
              </a:ext>
            </a:extLst>
          </p:cNvPr>
          <p:cNvCxnSpPr>
            <a:cxnSpLocks/>
          </p:cNvCxnSpPr>
          <p:nvPr/>
        </p:nvCxnSpPr>
        <p:spPr>
          <a:xfrm flipV="1">
            <a:off x="8984281" y="1091447"/>
            <a:ext cx="0" cy="15532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99B31C1-CC96-D62E-CD7A-6D026BEA117C}"/>
              </a:ext>
            </a:extLst>
          </p:cNvPr>
          <p:cNvCxnSpPr>
            <a:cxnSpLocks/>
          </p:cNvCxnSpPr>
          <p:nvPr/>
        </p:nvCxnSpPr>
        <p:spPr>
          <a:xfrm>
            <a:off x="9219557" y="1383350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6938A45-FD11-392F-FF33-D05CBBF6151F}"/>
              </a:ext>
            </a:extLst>
          </p:cNvPr>
          <p:cNvCxnSpPr>
            <a:cxnSpLocks/>
          </p:cNvCxnSpPr>
          <p:nvPr/>
        </p:nvCxnSpPr>
        <p:spPr>
          <a:xfrm>
            <a:off x="9219558" y="2699352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A12A2A1-BEF0-111C-B6D2-D1B13A9C5735}"/>
              </a:ext>
            </a:extLst>
          </p:cNvPr>
          <p:cNvCxnSpPr>
            <a:cxnSpLocks/>
          </p:cNvCxnSpPr>
          <p:nvPr/>
        </p:nvCxnSpPr>
        <p:spPr>
          <a:xfrm>
            <a:off x="9219558" y="281449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C32DDEC-AF34-FA47-112D-72BC006BF257}"/>
              </a:ext>
            </a:extLst>
          </p:cNvPr>
          <p:cNvCxnSpPr>
            <a:cxnSpLocks/>
          </p:cNvCxnSpPr>
          <p:nvPr/>
        </p:nvCxnSpPr>
        <p:spPr>
          <a:xfrm>
            <a:off x="8853945" y="2649629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746B7B00-656D-68F8-2AE6-0E19F6AC7C0D}"/>
                  </a:ext>
                </a:extLst>
              </p:cNvPr>
              <p:cNvSpPr txBox="1"/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𝑖𝑓𝑡</m:t>
                          </m:r>
                        </m:den>
                      </m:f>
                    </m:oMath>
                  </m:oMathPara>
                </a14:m>
                <a:endParaRPr lang="fr-FR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746B7B00-656D-68F8-2AE6-0E19F6AC7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65C23D2-7AC0-2A15-DD7B-E86FC264E7B2}"/>
                  </a:ext>
                </a:extLst>
              </p:cNvPr>
              <p:cNvSpPr txBox="1"/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65C23D2-7AC0-2A15-DD7B-E86FC264E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blipFill>
                <a:blip r:embed="rId7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6DA7212C-E51C-8D42-1B86-FFEC4C35BDC0}"/>
              </a:ext>
            </a:extLst>
          </p:cNvPr>
          <p:cNvCxnSpPr>
            <a:cxnSpLocks/>
          </p:cNvCxnSpPr>
          <p:nvPr/>
        </p:nvCxnSpPr>
        <p:spPr>
          <a:xfrm>
            <a:off x="9219558" y="2538485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61EE5410-E595-78B1-865C-F947B2627D0F}"/>
                  </a:ext>
                </a:extLst>
              </p:cNvPr>
              <p:cNvSpPr txBox="1"/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61EE5410-E595-78B1-865C-F947B2627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ZoneTexte 37">
            <a:extLst>
              <a:ext uri="{FF2B5EF4-FFF2-40B4-BE49-F238E27FC236}">
                <a16:creationId xmlns:a16="http://schemas.microsoft.com/office/drawing/2014/main" id="{1577A2C8-4D4E-EF9E-1B62-7766AB0184A1}"/>
              </a:ext>
            </a:extLst>
          </p:cNvPr>
          <p:cNvSpPr txBox="1"/>
          <p:nvPr/>
        </p:nvSpPr>
        <p:spPr>
          <a:xfrm>
            <a:off x="6532474" y="4766758"/>
            <a:ext cx="171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Numerical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7872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0FE1-A341-7D67-737E-698CCAC5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488E8BD-4CB9-AE0D-D527-7D9CEBFBA65E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shift parameter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32C5EF-C812-84FE-0012-6DC0B9984D54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5819E89-16F4-9941-FD52-BFA46BF93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96630" y="1339160"/>
            <a:ext cx="6607934" cy="32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5E535072-64D5-9C2B-32C6-B3A0A70B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86" y="1968104"/>
            <a:ext cx="4399422" cy="26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C309690C-AAE9-A447-B271-16B91298D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5" y="2958643"/>
            <a:ext cx="5587997" cy="361623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1C269E6-2858-2900-351C-E43E50F18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8335" y="3071260"/>
            <a:ext cx="5934998" cy="33909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A3CF24C-BB12-8C31-6341-099766EC18C5}"/>
              </a:ext>
            </a:extLst>
          </p:cNvPr>
          <p:cNvSpPr/>
          <p:nvPr/>
        </p:nvSpPr>
        <p:spPr>
          <a:xfrm>
            <a:off x="762000" y="3230033"/>
            <a:ext cx="1716617" cy="285115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F8BF14-446E-3EF4-B020-14ECCB61C3FD}"/>
              </a:ext>
            </a:extLst>
          </p:cNvPr>
          <p:cNvSpPr/>
          <p:nvPr/>
        </p:nvSpPr>
        <p:spPr>
          <a:xfrm>
            <a:off x="2478617" y="3230033"/>
            <a:ext cx="1462616" cy="2851150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23C7304-8B31-6BF9-1ED4-87B101785087}"/>
              </a:ext>
            </a:extLst>
          </p:cNvPr>
          <p:cNvGrpSpPr/>
          <p:nvPr/>
        </p:nvGrpSpPr>
        <p:grpSpPr>
          <a:xfrm>
            <a:off x="6453265" y="3372787"/>
            <a:ext cx="3752537" cy="2570814"/>
            <a:chOff x="6453266" y="3127600"/>
            <a:chExt cx="3179233" cy="285115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0A56FD2-77BD-8733-A74D-3B325208BC70}"/>
                </a:ext>
              </a:extLst>
            </p:cNvPr>
            <p:cNvSpPr/>
            <p:nvPr/>
          </p:nvSpPr>
          <p:spPr>
            <a:xfrm>
              <a:off x="6453266" y="3127600"/>
              <a:ext cx="1716617" cy="285115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39F693-FD7A-663C-0A61-8BE0309731A7}"/>
                </a:ext>
              </a:extLst>
            </p:cNvPr>
            <p:cNvSpPr/>
            <p:nvPr/>
          </p:nvSpPr>
          <p:spPr>
            <a:xfrm>
              <a:off x="8169883" y="3127600"/>
              <a:ext cx="1462616" cy="2851150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C0956CC-D88D-E4D7-0CDA-3BFF290498CE}"/>
              </a:ext>
            </a:extLst>
          </p:cNvPr>
          <p:cNvCxnSpPr>
            <a:cxnSpLocks/>
          </p:cNvCxnSpPr>
          <p:nvPr/>
        </p:nvCxnSpPr>
        <p:spPr>
          <a:xfrm flipV="1">
            <a:off x="8984281" y="1091447"/>
            <a:ext cx="0" cy="15532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AB71C769-45C6-6A97-5126-AA0F1D5BFDF5}"/>
              </a:ext>
            </a:extLst>
          </p:cNvPr>
          <p:cNvCxnSpPr>
            <a:cxnSpLocks/>
          </p:cNvCxnSpPr>
          <p:nvPr/>
        </p:nvCxnSpPr>
        <p:spPr>
          <a:xfrm>
            <a:off x="9219557" y="1383350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D0ADC9B-046D-9797-2B16-93999B7935E7}"/>
              </a:ext>
            </a:extLst>
          </p:cNvPr>
          <p:cNvCxnSpPr>
            <a:cxnSpLocks/>
          </p:cNvCxnSpPr>
          <p:nvPr/>
        </p:nvCxnSpPr>
        <p:spPr>
          <a:xfrm>
            <a:off x="9219558" y="2699352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F4EAB825-6C18-E956-8EA4-5BF0DC7EB699}"/>
              </a:ext>
            </a:extLst>
          </p:cNvPr>
          <p:cNvCxnSpPr>
            <a:cxnSpLocks/>
          </p:cNvCxnSpPr>
          <p:nvPr/>
        </p:nvCxnSpPr>
        <p:spPr>
          <a:xfrm>
            <a:off x="9219558" y="281449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73A1DAC2-A41A-8C71-A332-EDD19744C4D6}"/>
              </a:ext>
            </a:extLst>
          </p:cNvPr>
          <p:cNvCxnSpPr>
            <a:cxnSpLocks/>
          </p:cNvCxnSpPr>
          <p:nvPr/>
        </p:nvCxnSpPr>
        <p:spPr>
          <a:xfrm>
            <a:off x="8853945" y="2649629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2B1F567A-690C-9F35-6C49-D71A9C02722A}"/>
                  </a:ext>
                </a:extLst>
              </p:cNvPr>
              <p:cNvSpPr txBox="1"/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𝑖𝑓𝑡</m:t>
                          </m:r>
                        </m:den>
                      </m:f>
                    </m:oMath>
                  </m:oMathPara>
                </a14:m>
                <a:endParaRPr lang="fr-FR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2B1F567A-690C-9F35-6C49-D71A9C027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1FB083DA-236A-FDEF-DFA8-F9B7D0417AB9}"/>
                  </a:ext>
                </a:extLst>
              </p:cNvPr>
              <p:cNvSpPr txBox="1"/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1FB083DA-236A-FDEF-DFA8-F9B7D0417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blipFill>
                <a:blip r:embed="rId7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DEBB994-09BA-B0E2-3DCB-5C22ED63FB7D}"/>
              </a:ext>
            </a:extLst>
          </p:cNvPr>
          <p:cNvCxnSpPr>
            <a:cxnSpLocks/>
          </p:cNvCxnSpPr>
          <p:nvPr/>
        </p:nvCxnSpPr>
        <p:spPr>
          <a:xfrm>
            <a:off x="9219558" y="2538485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5BA36E93-C2BA-6F4D-7383-55436C7A5B87}"/>
                  </a:ext>
                </a:extLst>
              </p:cNvPr>
              <p:cNvSpPr txBox="1"/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5BA36E93-C2BA-6F4D-7383-55436C7A5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ZoneTexte 37">
            <a:extLst>
              <a:ext uri="{FF2B5EF4-FFF2-40B4-BE49-F238E27FC236}">
                <a16:creationId xmlns:a16="http://schemas.microsoft.com/office/drawing/2014/main" id="{7177DA6F-BE7E-8BBF-14CD-B585530A4FC0}"/>
              </a:ext>
            </a:extLst>
          </p:cNvPr>
          <p:cNvSpPr txBox="1"/>
          <p:nvPr/>
        </p:nvSpPr>
        <p:spPr>
          <a:xfrm>
            <a:off x="6532474" y="4766758"/>
            <a:ext cx="171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Numerical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en-GB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22000F8-B326-CC34-B61E-AD625D30C018}"/>
              </a:ext>
            </a:extLst>
          </p:cNvPr>
          <p:cNvSpPr txBox="1"/>
          <p:nvPr/>
        </p:nvSpPr>
        <p:spPr>
          <a:xfrm>
            <a:off x="8440083" y="4766758"/>
            <a:ext cx="171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Sweet </a:t>
            </a:r>
          </a:p>
          <a:p>
            <a:pPr algn="ctr"/>
            <a:r>
              <a:rPr lang="fr-FR" dirty="0"/>
              <a:t>spot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71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626F-CE82-FA40-9A9B-EC5BAE91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C29C799-A623-491A-B399-848362718333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shift parameter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BCCEF1-6C93-0AB2-252A-62B20852C86E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36E68F8-17B9-035D-7DBC-7E88964F5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96630" y="1339160"/>
            <a:ext cx="6607934" cy="32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2C197FDC-F5EA-DFFF-BA34-FC1A2B976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86" y="1968104"/>
            <a:ext cx="4399422" cy="26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99FE9072-0203-CF9B-DFD8-F3887CF23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5" y="2958643"/>
            <a:ext cx="5587997" cy="361623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FB581AD-8699-147C-5930-4CE2DD546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8335" y="3071260"/>
            <a:ext cx="5934998" cy="33909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74FD96-09B1-D840-4811-7B5FDE8ADF63}"/>
              </a:ext>
            </a:extLst>
          </p:cNvPr>
          <p:cNvSpPr/>
          <p:nvPr/>
        </p:nvSpPr>
        <p:spPr>
          <a:xfrm>
            <a:off x="762000" y="3230033"/>
            <a:ext cx="1716617" cy="285115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F2CD6A-0C4A-72D2-7732-B0C73F69F2A3}"/>
              </a:ext>
            </a:extLst>
          </p:cNvPr>
          <p:cNvSpPr/>
          <p:nvPr/>
        </p:nvSpPr>
        <p:spPr>
          <a:xfrm>
            <a:off x="2478617" y="3230033"/>
            <a:ext cx="1462616" cy="2851150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6A412-FA5D-713B-C919-BF3E54C34DAB}"/>
              </a:ext>
            </a:extLst>
          </p:cNvPr>
          <p:cNvSpPr/>
          <p:nvPr/>
        </p:nvSpPr>
        <p:spPr>
          <a:xfrm>
            <a:off x="3941233" y="3230033"/>
            <a:ext cx="1278467" cy="285115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8F8A21C-2832-D192-09D3-D4DCE1EC2FDE}"/>
              </a:ext>
            </a:extLst>
          </p:cNvPr>
          <p:cNvGrpSpPr/>
          <p:nvPr/>
        </p:nvGrpSpPr>
        <p:grpSpPr>
          <a:xfrm>
            <a:off x="6453265" y="3372787"/>
            <a:ext cx="5261547" cy="2570814"/>
            <a:chOff x="6453266" y="3127600"/>
            <a:chExt cx="4457700" cy="285115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24765F-A69E-A9B1-B1E1-AB1828CB2865}"/>
                </a:ext>
              </a:extLst>
            </p:cNvPr>
            <p:cNvSpPr/>
            <p:nvPr/>
          </p:nvSpPr>
          <p:spPr>
            <a:xfrm>
              <a:off x="6453266" y="3127600"/>
              <a:ext cx="1716617" cy="285115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957BEE-A840-7516-B0C6-C3E80EA02F78}"/>
                </a:ext>
              </a:extLst>
            </p:cNvPr>
            <p:cNvSpPr/>
            <p:nvPr/>
          </p:nvSpPr>
          <p:spPr>
            <a:xfrm>
              <a:off x="8169883" y="3127600"/>
              <a:ext cx="1462616" cy="2851150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53CCBE6-4157-A450-AEB4-F9B7BBEF1D4D}"/>
                </a:ext>
              </a:extLst>
            </p:cNvPr>
            <p:cNvSpPr/>
            <p:nvPr/>
          </p:nvSpPr>
          <p:spPr>
            <a:xfrm>
              <a:off x="9632499" y="3127600"/>
              <a:ext cx="1278467" cy="285115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52E89F5-D5CB-6C4C-CA8E-0C364123378A}"/>
              </a:ext>
            </a:extLst>
          </p:cNvPr>
          <p:cNvCxnSpPr>
            <a:cxnSpLocks/>
          </p:cNvCxnSpPr>
          <p:nvPr/>
        </p:nvCxnSpPr>
        <p:spPr>
          <a:xfrm flipV="1">
            <a:off x="8984281" y="1091447"/>
            <a:ext cx="0" cy="15532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738932C-F660-6699-5F5D-286EAA550DB1}"/>
              </a:ext>
            </a:extLst>
          </p:cNvPr>
          <p:cNvCxnSpPr>
            <a:cxnSpLocks/>
          </p:cNvCxnSpPr>
          <p:nvPr/>
        </p:nvCxnSpPr>
        <p:spPr>
          <a:xfrm>
            <a:off x="9219557" y="1383350"/>
            <a:ext cx="1064333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24BC48F-1A84-8F43-174F-36857E3636C1}"/>
              </a:ext>
            </a:extLst>
          </p:cNvPr>
          <p:cNvCxnSpPr>
            <a:cxnSpLocks/>
          </p:cNvCxnSpPr>
          <p:nvPr/>
        </p:nvCxnSpPr>
        <p:spPr>
          <a:xfrm>
            <a:off x="9219558" y="2699352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8F25BA4-2253-2389-14D4-8E0129B18698}"/>
              </a:ext>
            </a:extLst>
          </p:cNvPr>
          <p:cNvCxnSpPr>
            <a:cxnSpLocks/>
          </p:cNvCxnSpPr>
          <p:nvPr/>
        </p:nvCxnSpPr>
        <p:spPr>
          <a:xfrm>
            <a:off x="9219558" y="2814496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7069C54-72C0-12F5-0FE2-B5B8376436A3}"/>
              </a:ext>
            </a:extLst>
          </p:cNvPr>
          <p:cNvCxnSpPr>
            <a:cxnSpLocks/>
          </p:cNvCxnSpPr>
          <p:nvPr/>
        </p:nvCxnSpPr>
        <p:spPr>
          <a:xfrm>
            <a:off x="8853945" y="2649629"/>
            <a:ext cx="260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B75F16A9-C9EC-CD41-6E33-4E6319A2CE95}"/>
                  </a:ext>
                </a:extLst>
              </p:cNvPr>
              <p:cNvSpPr txBox="1"/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𝑖𝑓𝑡</m:t>
                          </m:r>
                        </m:den>
                      </m:f>
                    </m:oMath>
                  </m:oMathPara>
                </a14:m>
                <a:endParaRPr lang="fr-FR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fr-FR" sz="2000" b="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B75F16A9-C9EC-CD41-6E33-4E6319A2C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64" y="1043349"/>
                <a:ext cx="1219200" cy="1276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99FD5F6F-1614-75F8-CB8E-7C654ECCC12C}"/>
                  </a:ext>
                </a:extLst>
              </p:cNvPr>
              <p:cNvSpPr txBox="1"/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/>
                  <a:t>Energy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𝑰𝒅</m:t>
                              </m:r>
                            </m:e>
                          </m:d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  <a:p>
                <a:pPr algn="ctr"/>
                <a:endParaRPr lang="en-GB" sz="2000" b="1" dirty="0"/>
              </a:p>
              <a:p>
                <a:pPr algn="ctr"/>
                <a:r>
                  <a:rPr lang="fr-FR" sz="2000" b="1" dirty="0"/>
                  <a:t> 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99FD5F6F-1614-75F8-CB8E-7C654ECC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36" y="391540"/>
                <a:ext cx="2711619" cy="1268104"/>
              </a:xfrm>
              <a:prstGeom prst="rect">
                <a:avLst/>
              </a:prstGeom>
              <a:blipFill>
                <a:blip r:embed="rId7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4756897-EF4F-D548-44D5-DA8FFB41E553}"/>
              </a:ext>
            </a:extLst>
          </p:cNvPr>
          <p:cNvCxnSpPr>
            <a:cxnSpLocks/>
          </p:cNvCxnSpPr>
          <p:nvPr/>
        </p:nvCxnSpPr>
        <p:spPr>
          <a:xfrm>
            <a:off x="9219558" y="2538485"/>
            <a:ext cx="1064333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516AD5F8-30AE-B16A-9062-EFCE3C1E0F72}"/>
                  </a:ext>
                </a:extLst>
              </p:cNvPr>
              <p:cNvSpPr txBox="1"/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516AD5F8-30AE-B16A-9062-EFCE3C1E0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84" y="2472845"/>
                <a:ext cx="6552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ZoneTexte 37">
            <a:extLst>
              <a:ext uri="{FF2B5EF4-FFF2-40B4-BE49-F238E27FC236}">
                <a16:creationId xmlns:a16="http://schemas.microsoft.com/office/drawing/2014/main" id="{3B25921A-F5E8-3121-9EE7-F44D4EEB0A2B}"/>
              </a:ext>
            </a:extLst>
          </p:cNvPr>
          <p:cNvSpPr txBox="1"/>
          <p:nvPr/>
        </p:nvSpPr>
        <p:spPr>
          <a:xfrm>
            <a:off x="6532474" y="4766758"/>
            <a:ext cx="171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Numerical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en-GB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9D3760A-8C87-BF85-65AB-A1186B5B85B6}"/>
              </a:ext>
            </a:extLst>
          </p:cNvPr>
          <p:cNvSpPr txBox="1"/>
          <p:nvPr/>
        </p:nvSpPr>
        <p:spPr>
          <a:xfrm>
            <a:off x="8440083" y="4766758"/>
            <a:ext cx="171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Sweet </a:t>
            </a:r>
          </a:p>
          <a:p>
            <a:pPr algn="ctr"/>
            <a:r>
              <a:rPr lang="fr-FR" dirty="0"/>
              <a:t>spot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75417243-F968-0AA6-8B5E-D1405AB3BE96}"/>
                  </a:ext>
                </a:extLst>
              </p:cNvPr>
              <p:cNvSpPr txBox="1"/>
              <p:nvPr/>
            </p:nvSpPr>
            <p:spPr>
              <a:xfrm>
                <a:off x="10103869" y="4920376"/>
                <a:ext cx="171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𝑖𝑓𝑡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75417243-F968-0AA6-8B5E-D1405AB3B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3869" y="4920376"/>
                <a:ext cx="1712876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10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29CD-0C31-0125-6648-8372C100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E0CF73D-26F6-12FE-57F9-198A15624A00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 versus Lanczos, dim 28125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410372-0036-AFA8-D774-9B1A0CE10A0B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012EC5-98F9-55A3-24F9-FC2976567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74" y="1121052"/>
            <a:ext cx="5928678" cy="35368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AE465A-5657-E8FE-3622-7850486D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25" y="989612"/>
            <a:ext cx="4294302" cy="25728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55638AE-303A-458B-1410-FF2557443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25" y="3884370"/>
            <a:ext cx="4449359" cy="27102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2B0CD6-AD3D-3F95-5B9E-77F60C30FB02}"/>
              </a:ext>
            </a:extLst>
          </p:cNvPr>
          <p:cNvSpPr/>
          <p:nvPr/>
        </p:nvSpPr>
        <p:spPr>
          <a:xfrm>
            <a:off x="10401300" y="1974850"/>
            <a:ext cx="654050" cy="98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594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D3050F-D519-CCD0-B1C8-D7ECE133DD22}"/>
              </a:ext>
            </a:extLst>
          </p:cNvPr>
          <p:cNvSpPr>
            <a:spLocks noGrp="1"/>
          </p:cNvSpPr>
          <p:nvPr/>
        </p:nvSpPr>
        <p:spPr>
          <a:xfrm>
            <a:off x="521769" y="2929466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 err="1">
                <a:latin typeface="Avenir Next LT Pro" panose="020B0504020202020204" pitchFamily="34" charset="0"/>
              </a:rPr>
              <a:t>Annexe</a:t>
            </a:r>
            <a:endParaRPr lang="en-US" sz="3500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59E8C-B9FE-9D1D-6567-1EAB1FD2D27F}"/>
              </a:ext>
            </a:extLst>
          </p:cNvPr>
          <p:cNvSpPr/>
          <p:nvPr/>
        </p:nvSpPr>
        <p:spPr>
          <a:xfrm>
            <a:off x="4932451" y="3286879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2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35E15-67B8-B8E7-4273-373D5219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C86CAAB-78CA-DB14-D391-DCAF69487DA7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The power algorithm : Find the dominant eigenspace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E922D1-507A-9583-E558-0306AA0D0937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7413E5F-D716-BE8A-8690-92DC7D48C3C7}"/>
              </a:ext>
            </a:extLst>
          </p:cNvPr>
          <p:cNvSpPr txBox="1"/>
          <p:nvPr/>
        </p:nvSpPr>
        <p:spPr>
          <a:xfrm>
            <a:off x="4238324" y="1238781"/>
            <a:ext cx="37153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2200" u="sng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9D103D9-ADA9-9A56-C4CD-CAD5D6AE1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65" y="1401758"/>
            <a:ext cx="4939906" cy="486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DFAB10-97AE-DE55-21EF-7F8D16FCE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52955"/>
            <a:ext cx="4939907" cy="35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157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19890-BA51-6F78-4E0D-E756200B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F6C40E0-C505-6FF5-B22D-868B959A4B1C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Shift Invert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B038BF-B9B0-6E65-B585-AAC03BDC6BC3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572BDC0-CBFD-6703-9B2D-500D27FF7851}"/>
              </a:ext>
            </a:extLst>
          </p:cNvPr>
          <p:cNvGrpSpPr/>
          <p:nvPr/>
        </p:nvGrpSpPr>
        <p:grpSpPr>
          <a:xfrm>
            <a:off x="676467" y="1355141"/>
            <a:ext cx="10839066" cy="728492"/>
            <a:chOff x="851165" y="1355141"/>
            <a:chExt cx="10139124" cy="681449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F79B55D8-A286-875B-832C-7AA66AF077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7329" y="1355141"/>
              <a:ext cx="5012960" cy="681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66D2B2FE-8F91-8ADC-D221-FBA210034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51165" y="1416198"/>
              <a:ext cx="4760286" cy="559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Ellipse 6">
            <a:extLst>
              <a:ext uri="{FF2B5EF4-FFF2-40B4-BE49-F238E27FC236}">
                <a16:creationId xmlns:a16="http://schemas.microsoft.com/office/drawing/2014/main" id="{6A94BC53-AD81-0A1B-6A45-BD0928E9ED41}"/>
              </a:ext>
            </a:extLst>
          </p:cNvPr>
          <p:cNvSpPr/>
          <p:nvPr/>
        </p:nvSpPr>
        <p:spPr>
          <a:xfrm>
            <a:off x="361838" y="1659855"/>
            <a:ext cx="119062" cy="119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FDCDE98-D657-3E21-D577-FF9E1AC6B180}"/>
              </a:ext>
            </a:extLst>
          </p:cNvPr>
          <p:cNvSpPr/>
          <p:nvPr/>
        </p:nvSpPr>
        <p:spPr>
          <a:xfrm>
            <a:off x="361838" y="2463459"/>
            <a:ext cx="119062" cy="119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9991E89D-27BA-3968-B97F-A710D2FF8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67" y="2157253"/>
            <a:ext cx="5470022" cy="73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0E882D88-FE15-308A-C286-C883EEEA67C5}"/>
              </a:ext>
            </a:extLst>
          </p:cNvPr>
          <p:cNvSpPr/>
          <p:nvPr/>
        </p:nvSpPr>
        <p:spPr>
          <a:xfrm>
            <a:off x="361838" y="3451367"/>
            <a:ext cx="108327" cy="10832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92B8ECE5-9321-8766-704D-238D011A0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6467" y="3210100"/>
            <a:ext cx="11092721" cy="48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8DE0F3D3-EACF-D940-A358-65F2B4D7AEEB}"/>
              </a:ext>
            </a:extLst>
          </p:cNvPr>
          <p:cNvSpPr/>
          <p:nvPr/>
        </p:nvSpPr>
        <p:spPr>
          <a:xfrm>
            <a:off x="361837" y="4428540"/>
            <a:ext cx="108327" cy="10832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72" name="Picture 24">
            <a:extLst>
              <a:ext uri="{FF2B5EF4-FFF2-40B4-BE49-F238E27FC236}">
                <a16:creationId xmlns:a16="http://schemas.microsoft.com/office/drawing/2014/main" id="{EEE87657-4865-DB4D-9001-743FFFA83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67" y="4233116"/>
            <a:ext cx="9059644" cy="131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>
            <a:extLst>
              <a:ext uri="{FF2B5EF4-FFF2-40B4-BE49-F238E27FC236}">
                <a16:creationId xmlns:a16="http://schemas.microsoft.com/office/drawing/2014/main" id="{A5C4F040-8034-7592-84E1-4486AD3C5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67" y="5799316"/>
            <a:ext cx="8917238" cy="28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6DE72E2E-212C-0A37-DFE8-80A20CDDB14B}"/>
              </a:ext>
            </a:extLst>
          </p:cNvPr>
          <p:cNvSpPr/>
          <p:nvPr/>
        </p:nvSpPr>
        <p:spPr>
          <a:xfrm>
            <a:off x="361836" y="5889708"/>
            <a:ext cx="108327" cy="10832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64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DC462C9C-FD3F-6D0A-C128-410A13031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234" y="2159906"/>
            <a:ext cx="5431368" cy="3491594"/>
          </a:xfrm>
          <a:prstGeom prst="rect">
            <a:avLst/>
          </a:prstGeom>
        </p:spPr>
      </p:pic>
      <p:pic>
        <p:nvPicPr>
          <p:cNvPr id="9" name="Image 8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366E2C5C-EB3F-FB27-2BC3-8AD01DF03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159906"/>
            <a:ext cx="5431368" cy="349159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2A4CD78-C20C-4FE6-7EAE-0FBFDD46FBC0}"/>
              </a:ext>
            </a:extLst>
          </p:cNvPr>
          <p:cNvSpPr>
            <a:spLocks noGrp="1"/>
          </p:cNvSpPr>
          <p:nvPr/>
        </p:nvSpPr>
        <p:spPr>
          <a:xfrm>
            <a:off x="851165" y="59268"/>
            <a:ext cx="11148461" cy="1179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venir Next LT Pro" panose="020B0504020202020204" pitchFamily="34" charset="0"/>
              </a:rPr>
              <a:t>Follow trajectory, shift benchmark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87A56-445D-B1F0-39EC-BFF3C15193C4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9A150-5619-1EBC-57E5-DAB98418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33C0B9-08BD-098B-2C75-4AFCCE842673}"/>
              </a:ext>
            </a:extLst>
          </p:cNvPr>
          <p:cNvSpPr/>
          <p:nvPr/>
        </p:nvSpPr>
        <p:spPr>
          <a:xfrm>
            <a:off x="520514" y="407430"/>
            <a:ext cx="207619" cy="464685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Une image contenant ligne, capture d’écran, Tracé, texte&#10;&#10;Le contenu généré par l’IA peut être incorrect.">
            <a:extLst>
              <a:ext uri="{FF2B5EF4-FFF2-40B4-BE49-F238E27FC236}">
                <a16:creationId xmlns:a16="http://schemas.microsoft.com/office/drawing/2014/main" id="{2B92F0EB-D066-188C-B79D-EB950B10D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56" y="3137835"/>
            <a:ext cx="5285871" cy="3171523"/>
          </a:xfrm>
          <a:prstGeom prst="rect">
            <a:avLst/>
          </a:prstGeom>
        </p:spPr>
      </p:pic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D2EE50B2-6781-00EA-FE4D-6C4FA6C2F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32" r="15306"/>
          <a:stretch>
            <a:fillRect/>
          </a:stretch>
        </p:blipFill>
        <p:spPr>
          <a:xfrm>
            <a:off x="152438" y="3206870"/>
            <a:ext cx="5343588" cy="3033452"/>
          </a:xfrm>
          <a:prstGeom prst="rect">
            <a:avLst/>
          </a:prstGeom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AE78BDF8-617F-8B08-4707-A9E7442B0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72" y="417369"/>
            <a:ext cx="5436704" cy="50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201A854B-6F67-E892-6EA2-1156DFA4284D}"/>
              </a:ext>
            </a:extLst>
          </p:cNvPr>
          <p:cNvGrpSpPr/>
          <p:nvPr/>
        </p:nvGrpSpPr>
        <p:grpSpPr>
          <a:xfrm>
            <a:off x="675667" y="1416570"/>
            <a:ext cx="7148659" cy="1137090"/>
            <a:chOff x="728133" y="1403824"/>
            <a:chExt cx="7558634" cy="1202302"/>
          </a:xfrm>
        </p:grpSpPr>
        <p:pic>
          <p:nvPicPr>
            <p:cNvPr id="12296" name="Picture 8">
              <a:extLst>
                <a:ext uri="{FF2B5EF4-FFF2-40B4-BE49-F238E27FC236}">
                  <a16:creationId xmlns:a16="http://schemas.microsoft.com/office/drawing/2014/main" id="{A1773C14-80B9-80F1-3F98-6260C35B5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28134" y="1403824"/>
              <a:ext cx="6318709" cy="375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64AD6597-18A5-5337-A382-A65000748355}"/>
                </a:ext>
              </a:extLst>
            </p:cNvPr>
            <p:cNvSpPr txBox="1"/>
            <p:nvPr/>
          </p:nvSpPr>
          <p:spPr>
            <a:xfrm>
              <a:off x="3011557" y="1691497"/>
              <a:ext cx="96409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…</a:t>
              </a:r>
              <a:endParaRPr lang="en-GB" sz="3000" b="1" dirty="0"/>
            </a:p>
          </p:txBody>
        </p:sp>
        <p:pic>
          <p:nvPicPr>
            <p:cNvPr id="12300" name="Picture 12">
              <a:extLst>
                <a:ext uri="{FF2B5EF4-FFF2-40B4-BE49-F238E27FC236}">
                  <a16:creationId xmlns:a16="http://schemas.microsoft.com/office/drawing/2014/main" id="{69151FCA-E531-0798-9DCE-AD6510FBD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133" y="2230163"/>
              <a:ext cx="7558634" cy="375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AF51C04D-8ED9-5FC3-956B-9700AF4A9509}"/>
              </a:ext>
            </a:extLst>
          </p:cNvPr>
          <p:cNvSpPr/>
          <p:nvPr/>
        </p:nvSpPr>
        <p:spPr>
          <a:xfrm>
            <a:off x="8072202" y="1552626"/>
            <a:ext cx="142563" cy="854439"/>
          </a:xfrm>
          <a:custGeom>
            <a:avLst/>
            <a:gdLst>
              <a:gd name="csX0" fmla="*/ 0 w 389903"/>
              <a:gd name="csY0" fmla="*/ 0 h 854439"/>
              <a:gd name="csX1" fmla="*/ 389745 w 389903"/>
              <a:gd name="csY1" fmla="*/ 442210 h 854439"/>
              <a:gd name="csX2" fmla="*/ 37476 w 389903"/>
              <a:gd name="csY2" fmla="*/ 854439 h 854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903" h="854439">
                <a:moveTo>
                  <a:pt x="0" y="0"/>
                </a:moveTo>
                <a:cubicBezTo>
                  <a:pt x="191749" y="149902"/>
                  <a:pt x="383499" y="299804"/>
                  <a:pt x="389745" y="442210"/>
                </a:cubicBezTo>
                <a:cubicBezTo>
                  <a:pt x="395991" y="584617"/>
                  <a:pt x="216733" y="719528"/>
                  <a:pt x="37476" y="854439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304" name="Picture 16">
            <a:extLst>
              <a:ext uri="{FF2B5EF4-FFF2-40B4-BE49-F238E27FC236}">
                <a16:creationId xmlns:a16="http://schemas.microsoft.com/office/drawing/2014/main" id="{459C9097-9F4D-0F31-DC60-CB40AB716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841" y="1594355"/>
            <a:ext cx="2638113" cy="68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457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75124A-1395-2F19-1C1D-9F81A5C7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Schémas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592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0A26D91D-1FDE-978D-1A2E-61518CC6D992}"/>
              </a:ext>
            </a:extLst>
          </p:cNvPr>
          <p:cNvGrpSpPr/>
          <p:nvPr/>
        </p:nvGrpSpPr>
        <p:grpSpPr>
          <a:xfrm>
            <a:off x="4063901" y="1448873"/>
            <a:ext cx="3886206" cy="3960253"/>
            <a:chOff x="558259" y="528264"/>
            <a:chExt cx="3886206" cy="3960253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36D96C4-4037-E776-3862-32F8D06BD26F}"/>
                </a:ext>
              </a:extLst>
            </p:cNvPr>
            <p:cNvGrpSpPr/>
            <p:nvPr/>
          </p:nvGrpSpPr>
          <p:grpSpPr>
            <a:xfrm>
              <a:off x="558259" y="528264"/>
              <a:ext cx="3886206" cy="3960253"/>
              <a:chOff x="863059" y="857128"/>
              <a:chExt cx="3886206" cy="3960253"/>
            </a:xfrm>
          </p:grpSpPr>
          <p:pic>
            <p:nvPicPr>
              <p:cNvPr id="9" name="Graphic 6">
                <a:extLst>
                  <a:ext uri="{FF2B5EF4-FFF2-40B4-BE49-F238E27FC236}">
                    <a16:creationId xmlns:a16="http://schemas.microsoft.com/office/drawing/2014/main" id="{EA42124C-8336-F826-383F-E021672E3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59780" y="857128"/>
                <a:ext cx="3458514" cy="3960253"/>
              </a:xfrm>
              <a:prstGeom prst="rect">
                <a:avLst/>
              </a:prstGeom>
            </p:spPr>
          </p:pic>
          <p:pic>
            <p:nvPicPr>
              <p:cNvPr id="10" name="Image 9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91599039-7E54-A1AE-1A24-69EE219EB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9361" y="2467263"/>
                <a:ext cx="369904" cy="519849"/>
              </a:xfrm>
              <a:prstGeom prst="rect">
                <a:avLst/>
              </a:prstGeom>
            </p:spPr>
          </p:pic>
          <p:pic>
            <p:nvPicPr>
              <p:cNvPr id="11" name="Image 10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83B0FA7C-975C-5FAC-920A-2D935D712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059" y="2395464"/>
                <a:ext cx="439231" cy="66911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F751A0E-7817-E208-5AD5-5AABA18153E7}"/>
                  </a:ext>
                </a:extLst>
              </p:cNvPr>
              <p:cNvSpPr/>
              <p:nvPr/>
            </p:nvSpPr>
            <p:spPr>
              <a:xfrm>
                <a:off x="2585938" y="1218820"/>
                <a:ext cx="785794" cy="3527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B01461-4E24-18F8-B204-C7F11DC92971}"/>
                </a:ext>
              </a:extLst>
            </p:cNvPr>
            <p:cNvSpPr/>
            <p:nvPr/>
          </p:nvSpPr>
          <p:spPr>
            <a:xfrm>
              <a:off x="1530536" y="2152504"/>
              <a:ext cx="818147" cy="160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0A516B-5931-03DE-8DBC-82B03B8E47DA}"/>
                </a:ext>
              </a:extLst>
            </p:cNvPr>
            <p:cNvSpPr/>
            <p:nvPr/>
          </p:nvSpPr>
          <p:spPr>
            <a:xfrm>
              <a:off x="1530535" y="2401155"/>
              <a:ext cx="818147" cy="160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C864BE-3523-5335-839F-B33DDF9B0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618" y="2595033"/>
            <a:ext cx="611117" cy="3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EDDC568-1E3E-0976-109B-080C8BBE3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619" y="3570415"/>
            <a:ext cx="611116" cy="3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2E6AB534-0BA4-21F1-3E6A-59EA585AD1E0}"/>
              </a:ext>
            </a:extLst>
          </p:cNvPr>
          <p:cNvSpPr/>
          <p:nvPr/>
        </p:nvSpPr>
        <p:spPr>
          <a:xfrm>
            <a:off x="6794500" y="2726267"/>
            <a:ext cx="118593" cy="1185333"/>
          </a:xfrm>
          <a:custGeom>
            <a:avLst/>
            <a:gdLst>
              <a:gd name="csX0" fmla="*/ 12700 w 118593"/>
              <a:gd name="csY0" fmla="*/ 1185333 h 1185333"/>
              <a:gd name="csX1" fmla="*/ 118533 w 118593"/>
              <a:gd name="csY1" fmla="*/ 592666 h 1185333"/>
              <a:gd name="csX2" fmla="*/ 0 w 118593"/>
              <a:gd name="csY2" fmla="*/ 0 h 1185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93" h="1185333">
                <a:moveTo>
                  <a:pt x="12700" y="1185333"/>
                </a:moveTo>
                <a:cubicBezTo>
                  <a:pt x="66675" y="987777"/>
                  <a:pt x="120650" y="790221"/>
                  <a:pt x="118533" y="592666"/>
                </a:cubicBezTo>
                <a:cubicBezTo>
                  <a:pt x="116416" y="395111"/>
                  <a:pt x="58208" y="19755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A2B39C3E-C234-C3B3-F904-5EEDF5D78A30}"/>
              </a:ext>
            </a:extLst>
          </p:cNvPr>
          <p:cNvSpPr/>
          <p:nvPr/>
        </p:nvSpPr>
        <p:spPr>
          <a:xfrm flipH="1">
            <a:off x="7068674" y="2726267"/>
            <a:ext cx="118593" cy="1185333"/>
          </a:xfrm>
          <a:custGeom>
            <a:avLst/>
            <a:gdLst>
              <a:gd name="csX0" fmla="*/ 12700 w 118593"/>
              <a:gd name="csY0" fmla="*/ 1185333 h 1185333"/>
              <a:gd name="csX1" fmla="*/ 118533 w 118593"/>
              <a:gd name="csY1" fmla="*/ 592666 h 1185333"/>
              <a:gd name="csX2" fmla="*/ 0 w 118593"/>
              <a:gd name="csY2" fmla="*/ 0 h 1185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93" h="1185333">
                <a:moveTo>
                  <a:pt x="12700" y="1185333"/>
                </a:moveTo>
                <a:cubicBezTo>
                  <a:pt x="66675" y="987777"/>
                  <a:pt x="120650" y="790221"/>
                  <a:pt x="118533" y="592666"/>
                </a:cubicBezTo>
                <a:cubicBezTo>
                  <a:pt x="116416" y="395111"/>
                  <a:pt x="58208" y="19755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72B0CC8-4552-C4A6-8BE8-E38F6278A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209" y="1965435"/>
            <a:ext cx="1879846" cy="824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33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AE179BC9-90EC-AFC1-54B2-23AEBD480463}"/>
              </a:ext>
            </a:extLst>
          </p:cNvPr>
          <p:cNvGrpSpPr/>
          <p:nvPr/>
        </p:nvGrpSpPr>
        <p:grpSpPr>
          <a:xfrm>
            <a:off x="4063901" y="1448873"/>
            <a:ext cx="3886206" cy="3960253"/>
            <a:chOff x="558259" y="528264"/>
            <a:chExt cx="3886206" cy="3960253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CB3EEA7-F046-7FE8-6F2C-93EC0B1B67A8}"/>
                </a:ext>
              </a:extLst>
            </p:cNvPr>
            <p:cNvGrpSpPr/>
            <p:nvPr/>
          </p:nvGrpSpPr>
          <p:grpSpPr>
            <a:xfrm>
              <a:off x="558259" y="528264"/>
              <a:ext cx="3886206" cy="3960253"/>
              <a:chOff x="863059" y="857128"/>
              <a:chExt cx="3886206" cy="3960253"/>
            </a:xfrm>
          </p:grpSpPr>
          <p:pic>
            <p:nvPicPr>
              <p:cNvPr id="9" name="Graphic 6">
                <a:extLst>
                  <a:ext uri="{FF2B5EF4-FFF2-40B4-BE49-F238E27FC236}">
                    <a16:creationId xmlns:a16="http://schemas.microsoft.com/office/drawing/2014/main" id="{627833C5-E239-8A9C-89AE-AC1077094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59780" y="857128"/>
                <a:ext cx="3458514" cy="3960253"/>
              </a:xfrm>
              <a:prstGeom prst="rect">
                <a:avLst/>
              </a:prstGeom>
            </p:spPr>
          </p:pic>
          <p:pic>
            <p:nvPicPr>
              <p:cNvPr id="10" name="Image 9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40D6D1CE-11EE-8A73-6ACE-F570A9D70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9361" y="2467263"/>
                <a:ext cx="369904" cy="519849"/>
              </a:xfrm>
              <a:prstGeom prst="rect">
                <a:avLst/>
              </a:prstGeom>
            </p:spPr>
          </p:pic>
          <p:pic>
            <p:nvPicPr>
              <p:cNvPr id="11" name="Image 10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C224EC3D-59FF-4FF7-6746-B4655920B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059" y="2395464"/>
                <a:ext cx="439231" cy="66911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FD4E34-F39D-8436-6B50-3DFD97845366}"/>
                  </a:ext>
                </a:extLst>
              </p:cNvPr>
              <p:cNvSpPr/>
              <p:nvPr/>
            </p:nvSpPr>
            <p:spPr>
              <a:xfrm>
                <a:off x="2585938" y="1218820"/>
                <a:ext cx="785794" cy="3527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915DC3-3134-4EA1-2F09-90E18C8D22DA}"/>
                </a:ext>
              </a:extLst>
            </p:cNvPr>
            <p:cNvSpPr/>
            <p:nvPr/>
          </p:nvSpPr>
          <p:spPr>
            <a:xfrm>
              <a:off x="1530536" y="2152504"/>
              <a:ext cx="818147" cy="160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B5F054-9498-922A-F4D1-ACC109CBD3D3}"/>
                </a:ext>
              </a:extLst>
            </p:cNvPr>
            <p:cNvSpPr/>
            <p:nvPr/>
          </p:nvSpPr>
          <p:spPr>
            <a:xfrm>
              <a:off x="1530535" y="2401155"/>
              <a:ext cx="818147" cy="160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1909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que 14">
            <a:extLst>
              <a:ext uri="{FF2B5EF4-FFF2-40B4-BE49-F238E27FC236}">
                <a16:creationId xmlns:a16="http://schemas.microsoft.com/office/drawing/2014/main" id="{41FCED58-A0BE-310A-1B0B-0B9E06F54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1167" y="793223"/>
            <a:ext cx="6969665" cy="5803920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82F6C35-CAE8-0AE3-1D04-A35BDF2F3AB0}"/>
              </a:ext>
            </a:extLst>
          </p:cNvPr>
          <p:cNvCxnSpPr/>
          <p:nvPr/>
        </p:nvCxnSpPr>
        <p:spPr>
          <a:xfrm>
            <a:off x="6096000" y="3746500"/>
            <a:ext cx="0" cy="6667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F01073-73F5-B3ED-0D36-0DD3BDA61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4" y="3849687"/>
            <a:ext cx="7444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04CD4ECB-8FF9-3145-F02B-228F2FC09D74}"/>
              </a:ext>
            </a:extLst>
          </p:cNvPr>
          <p:cNvCxnSpPr/>
          <p:nvPr/>
        </p:nvCxnSpPr>
        <p:spPr>
          <a:xfrm>
            <a:off x="6096000" y="4641850"/>
            <a:ext cx="0" cy="6667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209F113B-F360-7517-B0FF-E37F5DF4F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4" y="4745037"/>
            <a:ext cx="7444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C858B3A-2979-9210-98C3-5E397CF2F56F}"/>
              </a:ext>
            </a:extLst>
          </p:cNvPr>
          <p:cNvCxnSpPr/>
          <p:nvPr/>
        </p:nvCxnSpPr>
        <p:spPr>
          <a:xfrm>
            <a:off x="6096000" y="2849562"/>
            <a:ext cx="0" cy="6667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4">
            <a:extLst>
              <a:ext uri="{FF2B5EF4-FFF2-40B4-BE49-F238E27FC236}">
                <a16:creationId xmlns:a16="http://schemas.microsoft.com/office/drawing/2014/main" id="{DC5CE9EC-5EB6-4D8E-9194-020A144BB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4" y="2952749"/>
            <a:ext cx="7444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F434EE8-0756-C16C-A5DA-7481108B7BFB}"/>
              </a:ext>
            </a:extLst>
          </p:cNvPr>
          <p:cNvCxnSpPr/>
          <p:nvPr/>
        </p:nvCxnSpPr>
        <p:spPr>
          <a:xfrm>
            <a:off x="6096000" y="1921668"/>
            <a:ext cx="0" cy="6667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>
            <a:extLst>
              <a:ext uri="{FF2B5EF4-FFF2-40B4-BE49-F238E27FC236}">
                <a16:creationId xmlns:a16="http://schemas.microsoft.com/office/drawing/2014/main" id="{40941CF6-3F2E-4A6E-6400-1A6499C0F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4" y="2024855"/>
            <a:ext cx="7444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1BCC566-C0D9-965B-6FA1-BEADD0D3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46" y="5205412"/>
            <a:ext cx="571114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1322C05-EBD3-13F0-E7E0-92E9D8566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546" y="4291012"/>
            <a:ext cx="571114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161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FA7F3979-FCAB-48D4-AF0B-211C5918E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611167" y="756442"/>
            <a:ext cx="6969664" cy="580392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F29A3EC-A917-3AF1-6955-72C58D97D732}"/>
              </a:ext>
            </a:extLst>
          </p:cNvPr>
          <p:cNvCxnSpPr/>
          <p:nvPr/>
        </p:nvCxnSpPr>
        <p:spPr>
          <a:xfrm>
            <a:off x="5765800" y="4641849"/>
            <a:ext cx="0" cy="6667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4">
            <a:extLst>
              <a:ext uri="{FF2B5EF4-FFF2-40B4-BE49-F238E27FC236}">
                <a16:creationId xmlns:a16="http://schemas.microsoft.com/office/drawing/2014/main" id="{E6AD68FF-77AE-56CD-1B63-51A158F5F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45995" y="4758142"/>
            <a:ext cx="1163612" cy="43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C913E66-0902-863C-E5D5-632E75394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778" y="3963497"/>
            <a:ext cx="2882189" cy="4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2F41344-4E25-48A4-BE52-D95CEADB16DB}"/>
              </a:ext>
            </a:extLst>
          </p:cNvPr>
          <p:cNvCxnSpPr>
            <a:cxnSpLocks/>
          </p:cNvCxnSpPr>
          <p:nvPr/>
        </p:nvCxnSpPr>
        <p:spPr>
          <a:xfrm>
            <a:off x="4948767" y="3909074"/>
            <a:ext cx="0" cy="548788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587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5792</TotalTime>
  <Words>309</Words>
  <Application>Microsoft Office PowerPoint</Application>
  <PresentationFormat>Grand écran</PresentationFormat>
  <Paragraphs>141</Paragraphs>
  <Slides>26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Avenir Next LT Pro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Schémas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 Delachaux</dc:creator>
  <cp:lastModifiedBy>Eliot Delachaux</cp:lastModifiedBy>
  <cp:revision>14</cp:revision>
  <dcterms:created xsi:type="dcterms:W3CDTF">2026-02-03T13:20:51Z</dcterms:created>
  <dcterms:modified xsi:type="dcterms:W3CDTF">2026-02-11T14:57:00Z</dcterms:modified>
</cp:coreProperties>
</file>