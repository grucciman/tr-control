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A_E5B40B2D.xml" ContentType="application/vnd.ms-powerpoint.comments+xml"/>
  <Override PartName="/ppt/comments/modernComment_111_D1EFDCCF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65" r:id="rId2"/>
    <p:sldId id="262" r:id="rId3"/>
    <p:sldId id="258" r:id="rId4"/>
    <p:sldId id="259" r:id="rId5"/>
    <p:sldId id="260" r:id="rId6"/>
    <p:sldId id="261" r:id="rId7"/>
    <p:sldId id="264" r:id="rId8"/>
    <p:sldId id="266" r:id="rId9"/>
    <p:sldId id="268" r:id="rId10"/>
    <p:sldId id="270" r:id="rId11"/>
    <p:sldId id="271" r:id="rId12"/>
    <p:sldId id="272" r:id="rId13"/>
    <p:sldId id="280" r:id="rId14"/>
    <p:sldId id="274" r:id="rId15"/>
    <p:sldId id="279" r:id="rId16"/>
    <p:sldId id="275" r:id="rId17"/>
    <p:sldId id="277" r:id="rId18"/>
    <p:sldId id="278" r:id="rId19"/>
    <p:sldId id="269" r:id="rId20"/>
    <p:sldId id="273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ED1E1F5-AA0E-40E0-926A-FB8FCEF4FEFE}" name="Eliot Delachaux" initials="ED" userId="3bab0c6560e7c5c3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AD93A"/>
    <a:srgbClr val="F5A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820" autoAdjust="0"/>
    <p:restoredTop sz="94660"/>
  </p:normalViewPr>
  <p:slideViewPr>
    <p:cSldViewPr snapToGrid="0">
      <p:cViewPr>
        <p:scale>
          <a:sx n="75" d="100"/>
          <a:sy n="75" d="100"/>
        </p:scale>
        <p:origin x="320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8/10/relationships/authors" Target="authors.xml"/></Relationships>
</file>

<file path=ppt/comments/modernComment_10A_E5B40B2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9D62AB5-1274-4E37-8E4E-E44BE8742E41}" authorId="{9ED1E1F5-AA0E-40E0-926A-FB8FCEF4FEFE}" created="2026-02-04T15:37:31.505">
    <pc:sldMkLst xmlns:pc="http://schemas.microsoft.com/office/powerpoint/2013/main/command">
      <pc:docMk/>
      <pc:sldMk cId="3853781805" sldId="266"/>
    </pc:sldMkLst>
    <p188:txBody>
      <a:bodyPr/>
      <a:lstStyle/>
      <a:p>
        <a:r>
          <a:rPr lang="en-GB"/>
          <a:t>\begin{array}{l}
\textbf{1. Spectral Decomposition (Operator View)} \\
\quad A = \sum_i \lambda_i |\psi_i\rangle \langle \psi_i| \quad \text{with} \quad |\lambda_0| \le \dots &lt; \mathbf{|\lambda_{max}|} \\[1em]
\textbf{2. Initial State Expansion} \\
\quad |\Psi^{(0)}\rangle = c_{max}|\psi_{max}\rangle + \sum_{i \neq max} c_i |\psi_i\rangle \\[1em]
\textbf{3. Applying } A^n \text{ (Power Iteration)} \\
\quad A^n |\Psi^{(0)}\rangle = c_{max}\lambda_{max}^n |\psi_{max}\rangle + \sum_{i \neq max} c_i \lambda_i^n |\psi_i\rangle \\[1em]
\textbf{4. Factorization \&amp; Convergence} \\
\quad = \lambda_{max}^n \left[ c_{max}|\psi_{max}\rangle + \sum_{i \neq max} c_i \underbrace{\left( \frac{\lambda_i}{\lambda_{max}} \right)^n}_{\to 0 \text{ as } n \to \infty} |\psi_i\rangle \right] \\[1.5em]
\implies \mathbf{\lim_{n \to \infty} A^n |\Psi^{(0)}\rangle \propto |\psi_{max}\rangle}
\end{array}</a:t>
        </a:r>
      </a:p>
    </p188:txBody>
  </p188:cm>
</p188:cmLst>
</file>

<file path=ppt/comments/modernComment_111_D1EFDCC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082DB97-16F2-473A-9FB2-9BB7BD5862E5}" authorId="{9ED1E1F5-AA0E-40E0-926A-FB8FCEF4FEFE}" created="2026-02-04T15:37:31.505">
    <pc:sldMkLst xmlns:pc="http://schemas.microsoft.com/office/powerpoint/2013/main/command">
      <pc:docMk/>
      <pc:sldMk cId="3853781805" sldId="266"/>
    </pc:sldMkLst>
    <p188:txBody>
      <a:bodyPr/>
      <a:lstStyle/>
      <a:p>
        <a:r>
          <a:rPr lang="en-GB"/>
          <a:t>\begin{array}{l}
\textbf{1. Spectral Decomposition (Operator View)} \\
\quad A = \sum_i \lambda_i |\psi_i\rangle \langle \psi_i| \quad \text{with} \quad |\lambda_0| \le \dots &lt; \mathbf{|\lambda_{max}|} \\[1em]
\textbf{2. Initial State Expansion} \\
\quad |\Psi^{(0)}\rangle = c_{max}|\psi_{max}\rangle + \sum_{i \neq max} c_i |\psi_i\rangle \\[1em]
\textbf{3. Applying } A^n \text{ (Power Iteration)} \\
\quad A^n |\Psi^{(0)}\rangle = c_{max}\lambda_{max}^n |\psi_{max}\rangle + \sum_{i \neq max} c_i \lambda_i^n |\psi_i\rangle \\[1em]
\textbf{4. Factorization \&amp; Convergence} \\
\quad = \lambda_{max}^n \left[ c_{max}|\psi_{max}\rangle + \sum_{i \neq max} c_i \underbrace{\left( \frac{\lambda_i}{\lambda_{max}} \right)^n}_{\to 0 \text{ as } n \to \infty} |\psi_i\rangle \right] \\[1.5em]
\implies \mathbf{\lim_{n \to \infty} A^n |\Psi^{(0)}\rangle \propto |\psi_{max}\rangle}
\end{array}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3F6E85-C82F-49A6-9005-B7DE10D678C3}" type="datetimeFigureOut">
              <a:rPr lang="en-GB" smtClean="0"/>
              <a:t>04/02/2026</a:t>
            </a:fld>
            <a:endParaRPr lang="en-GB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40801E-F17D-49F8-A5EE-5A04936997C9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00772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40801E-F17D-49F8-A5EE-5A04936997C9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081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3486C8-2360-A0FB-064D-DE3B617220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5C05537-9866-5DEA-F20F-37822DAB7D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A4DF7D3-92FC-199F-FE83-718353F9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85376-8043-4126-A1B6-BD3A6AD0CC87}" type="datetimeFigureOut">
              <a:rPr lang="en-GB" smtClean="0"/>
              <a:t>04/02/2026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D8AC210-43C7-8A89-E7C1-E4A849CFB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4A6008C-CE2F-565A-D1EF-478E6131D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85361-CE05-4AF2-B8B9-763ED177449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469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1CAA02-EA4B-1F74-A783-76630FA97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CDE7A10-8461-3834-87FC-0B51A25DD6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7705C86-A81F-B3ED-41D8-48C95EFE5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85376-8043-4126-A1B6-BD3A6AD0CC87}" type="datetimeFigureOut">
              <a:rPr lang="en-GB" smtClean="0"/>
              <a:t>04/02/2026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78EAEAA-B3AB-5AE3-2313-458A2F94E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AB529F5-AA08-FFCE-E832-A708D580E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85361-CE05-4AF2-B8B9-763ED177449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5225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FECC6B-82BD-EEC3-CA0F-14C3467B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BB2097B-593E-4932-B5D5-8BDEE79077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9CA19FE-0627-448A-3908-FD96001D9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85376-8043-4126-A1B6-BD3A6AD0CC87}" type="datetimeFigureOut">
              <a:rPr lang="en-GB" smtClean="0"/>
              <a:t>04/02/2026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095DC14-DA1E-74B1-94B3-67A01631A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F3DD722-6DE3-8D01-2B70-C7F1C592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85361-CE05-4AF2-B8B9-763ED177449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9820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5F5ADE-09F0-392D-A553-4CAD4BB1D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E496A50-5582-5784-F237-8EC201F744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490CB64-D7E8-52FB-755E-F0108A9761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ACF330B-B319-9835-BA2D-3C50AE7ED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85376-8043-4126-A1B6-BD3A6AD0CC87}" type="datetimeFigureOut">
              <a:rPr lang="en-GB" smtClean="0"/>
              <a:t>04/02/2026</a:t>
            </a:fld>
            <a:endParaRPr lang="en-GB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47BD297-A89F-53F7-11FA-C648BE6B3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7E7D09A-53F8-878C-3D6B-FB406644A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85361-CE05-4AF2-B8B9-763ED177449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1292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9B5435-4A26-8DE5-970B-4D1FDE34A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0BC815B-D3BB-5B01-99A4-6555FFB318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FAE98AB-8262-E13D-A0BB-20D6C6EAE9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E94BB66-F7D9-AD7C-696C-5F0CEBBDF9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3B9949E-8701-B768-A40F-08FC1A988C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C679358-7122-3212-C79F-8969B4E26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85376-8043-4126-A1B6-BD3A6AD0CC87}" type="datetimeFigureOut">
              <a:rPr lang="en-GB" smtClean="0"/>
              <a:t>04/02/2026</a:t>
            </a:fld>
            <a:endParaRPr lang="en-GB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FFBB486-99F6-4433-A2D2-9DE0BF059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F028135-21EA-5D89-8F0D-E97EEC2A5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85361-CE05-4AF2-B8B9-763ED177449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8976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B52A82-7744-EB8D-6281-3810B3E73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B134732-89C8-AE09-B54B-D2FEC900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85376-8043-4126-A1B6-BD3A6AD0CC87}" type="datetimeFigureOut">
              <a:rPr lang="en-GB" smtClean="0"/>
              <a:t>04/02/2026</a:t>
            </a:fld>
            <a:endParaRPr lang="en-GB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77EA66A-63BA-41AC-93C3-01EB9F951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FDB61F5-327D-5FC0-FFC2-FCE3C4EF5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85361-CE05-4AF2-B8B9-763ED177449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1365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BD3CA2E-09FA-86F3-2CCB-A0A1F6CD1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85376-8043-4126-A1B6-BD3A6AD0CC87}" type="datetimeFigureOut">
              <a:rPr lang="en-GB" smtClean="0"/>
              <a:t>04/02/2026</a:t>
            </a:fld>
            <a:endParaRPr lang="en-GB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8C8BD98-73A2-F3BA-0A1B-AEA812570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20D90B8-AA99-665E-0C29-4733977A6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85361-CE05-4AF2-B8B9-763ED177449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765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A4A608-9BDA-65FA-1F95-FE95B1E6D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B596F37-CBD8-03AB-BB02-D749E90CE9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B0E382A-C2C7-6122-5106-7FF94E3750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668DFCD-53BB-8741-309A-2C3A32E66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85376-8043-4126-A1B6-BD3A6AD0CC87}" type="datetimeFigureOut">
              <a:rPr lang="en-GB" smtClean="0"/>
              <a:t>04/02/2026</a:t>
            </a:fld>
            <a:endParaRPr lang="en-GB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B8F98D6-9D8A-CE22-F1F5-30813D775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35D3C8C-9E44-BF82-824C-7C48F1B6B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85361-CE05-4AF2-B8B9-763ED177449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7402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60A87F-17DD-80BB-42A4-19EF2C5B2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358E8DD-3FF0-5C8F-8B78-3F28102468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FF9C71F-563C-EFA9-B446-E4C39BF1FB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8F452B2-1D6F-BC2F-6B41-518033367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85376-8043-4126-A1B6-BD3A6AD0CC87}" type="datetimeFigureOut">
              <a:rPr lang="en-GB" smtClean="0"/>
              <a:t>04/02/2026</a:t>
            </a:fld>
            <a:endParaRPr lang="en-GB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007CF63-0BA2-AB4E-D936-30C92C1D7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CD75A21-00EB-98DC-77A5-BEA8DB24A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85361-CE05-4AF2-B8B9-763ED177449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3390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BF4A48-1AB0-CD09-EB6C-F080D444E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2EDBA4B-78A7-807F-B2B6-555394B337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8A7F4F1-FAEA-21CA-3391-6C3963267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85376-8043-4126-A1B6-BD3A6AD0CC87}" type="datetimeFigureOut">
              <a:rPr lang="en-GB" smtClean="0"/>
              <a:t>04/02/2026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9063D9-A135-DFDA-7CCB-38A762D30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EF649-AB16-2FDE-D34C-178A89F25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85361-CE05-4AF2-B8B9-763ED177449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6122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633FCFD-BCF9-05FD-1BB2-E3FDAFC014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6BEE64-AF30-29CD-E1BA-7BC61E35A9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7A960A3-1B7C-F23D-A50B-F30A029EF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85376-8043-4126-A1B6-BD3A6AD0CC87}" type="datetimeFigureOut">
              <a:rPr lang="en-GB" smtClean="0"/>
              <a:t>04/02/2026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9EDF6E-DEBB-EDF8-5B7F-E315DAB0F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1831018-B2D0-DEBC-C84E-F7E7A7C7E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85361-CE05-4AF2-B8B9-763ED177449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5735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B7FB282-4A99-8BB3-1937-DB1744C6F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EEAAEA2-36B8-23F6-49E2-5ACD4707CE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3E947E-E5C3-EAC0-12F5-E6C975967F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C85376-8043-4126-A1B6-BD3A6AD0CC87}" type="datetimeFigureOut">
              <a:rPr lang="en-GB" smtClean="0"/>
              <a:t>04/02/2026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AD0A492-6B92-58A6-A3AC-86759D0CFE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C831E69-3ED7-C8A0-15C0-C0AE3BA810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485361-CE05-4AF2-B8B9-763ED177449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1146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10A_E5B40B2D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microsoft.com/office/2018/10/relationships/comments" Target="../comments/modernComment_111_D1EFDCCF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DF509-6DD8-6F18-4780-2B6A323F6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F13A1FBC-3D8B-4988-4866-752705895673}"/>
              </a:ext>
            </a:extLst>
          </p:cNvPr>
          <p:cNvSpPr>
            <a:spLocks noGrp="1"/>
          </p:cNvSpPr>
          <p:nvPr/>
        </p:nvSpPr>
        <p:spPr>
          <a:xfrm>
            <a:off x="2345267" y="1409379"/>
            <a:ext cx="8026401" cy="31607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500" dirty="0">
                <a:latin typeface="Avenir Next LT Pro" panose="020B0504020202020204" pitchFamily="34" charset="0"/>
              </a:rPr>
              <a:t>Shift Invert :</a:t>
            </a:r>
          </a:p>
          <a:p>
            <a:pPr algn="ctr"/>
            <a:r>
              <a:rPr lang="en-US" sz="3500" dirty="0">
                <a:latin typeface="Avenir Next LT Pro" panose="020B0504020202020204" pitchFamily="34" charset="0"/>
              </a:rPr>
              <a:t>Implementing a new algorithm to diagonalize matrixes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D7C8925-63FB-DD8D-E19F-3FA927294835}"/>
              </a:ext>
            </a:extLst>
          </p:cNvPr>
          <p:cNvSpPr/>
          <p:nvPr/>
        </p:nvSpPr>
        <p:spPr>
          <a:xfrm>
            <a:off x="2090895" y="2277532"/>
            <a:ext cx="415240" cy="1320800"/>
          </a:xfrm>
          <a:prstGeom prst="rect">
            <a:avLst/>
          </a:prstGeom>
          <a:solidFill>
            <a:srgbClr val="F5A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CD97A7A-E78D-6581-2DCF-94B81786189B}"/>
              </a:ext>
            </a:extLst>
          </p:cNvPr>
          <p:cNvSpPr txBox="1"/>
          <p:nvPr/>
        </p:nvSpPr>
        <p:spPr>
          <a:xfrm>
            <a:off x="2929467" y="4631265"/>
            <a:ext cx="68580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500" i="1" dirty="0"/>
              <a:t>Eliot Delachaux, TR-</a:t>
            </a:r>
            <a:r>
              <a:rPr lang="fr-FR" sz="2500" i="1" dirty="0" err="1"/>
              <a:t>Controle</a:t>
            </a:r>
            <a:endParaRPr lang="en-GB" sz="2500" i="1" dirty="0"/>
          </a:p>
        </p:txBody>
      </p:sp>
    </p:spTree>
    <p:extLst>
      <p:ext uri="{BB962C8B-B14F-4D97-AF65-F5344CB8AC3E}">
        <p14:creationId xmlns:p14="http://schemas.microsoft.com/office/powerpoint/2010/main" val="629985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1B1A8-BBE3-B305-E171-2406CB1F2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FB87A275-18C5-EE52-1447-4843DDDA9B76}"/>
              </a:ext>
            </a:extLst>
          </p:cNvPr>
          <p:cNvSpPr>
            <a:spLocks noGrp="1"/>
          </p:cNvSpPr>
          <p:nvPr/>
        </p:nvSpPr>
        <p:spPr>
          <a:xfrm>
            <a:off x="851165" y="0"/>
            <a:ext cx="10167937" cy="11795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Avenir Next LT Pro" panose="020B0504020202020204" pitchFamily="34" charset="0"/>
              </a:rPr>
              <a:t>Shift invert, Why 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6D9C103-7598-519B-938B-20247BABD566}"/>
              </a:ext>
            </a:extLst>
          </p:cNvPr>
          <p:cNvSpPr/>
          <p:nvPr/>
        </p:nvSpPr>
        <p:spPr>
          <a:xfrm>
            <a:off x="520514" y="348162"/>
            <a:ext cx="207619" cy="464685"/>
          </a:xfrm>
          <a:prstGeom prst="rect">
            <a:avLst/>
          </a:prstGeom>
          <a:solidFill>
            <a:srgbClr val="F5A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5" name="Image 24" descr="Une image contenant texte, nombr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B1FF735A-8288-5310-4CF9-CFE326BB90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714" y="1581869"/>
            <a:ext cx="6116321" cy="3989197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CD77438C-E5E7-E121-B194-C171346CB319}"/>
              </a:ext>
            </a:extLst>
          </p:cNvPr>
          <p:cNvSpPr txBox="1"/>
          <p:nvPr/>
        </p:nvSpPr>
        <p:spPr>
          <a:xfrm>
            <a:off x="7654052" y="946869"/>
            <a:ext cx="3767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Current</a:t>
            </a:r>
            <a:r>
              <a:rPr lang="fr-FR" dirty="0"/>
              <a:t> </a:t>
            </a:r>
            <a:r>
              <a:rPr lang="fr-FR" dirty="0" err="1"/>
              <a:t>algorithm</a:t>
            </a:r>
            <a:r>
              <a:rPr lang="fr-FR" dirty="0"/>
              <a:t> : Krylov Solver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BE321BD-B9B4-7A47-B6B9-E2097E2B1635}"/>
              </a:ext>
            </a:extLst>
          </p:cNvPr>
          <p:cNvSpPr/>
          <p:nvPr/>
        </p:nvSpPr>
        <p:spPr>
          <a:xfrm>
            <a:off x="7861300" y="946869"/>
            <a:ext cx="331893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A38F2D4-B309-6780-DD82-D9308B60B392}"/>
              </a:ext>
            </a:extLst>
          </p:cNvPr>
          <p:cNvSpPr txBox="1"/>
          <p:nvPr/>
        </p:nvSpPr>
        <p:spPr>
          <a:xfrm>
            <a:off x="7035892" y="1532895"/>
            <a:ext cx="496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2 issues :</a:t>
            </a:r>
          </a:p>
        </p:txBody>
      </p:sp>
    </p:spTree>
    <p:extLst>
      <p:ext uri="{BB962C8B-B14F-4D97-AF65-F5344CB8AC3E}">
        <p14:creationId xmlns:p14="http://schemas.microsoft.com/office/powerpoint/2010/main" val="2406970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55397-B764-0850-A207-3FB35161C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F6FB2BD7-F68E-AA3B-15B4-EC38987075A4}"/>
              </a:ext>
            </a:extLst>
          </p:cNvPr>
          <p:cNvSpPr>
            <a:spLocks noGrp="1"/>
          </p:cNvSpPr>
          <p:nvPr/>
        </p:nvSpPr>
        <p:spPr>
          <a:xfrm>
            <a:off x="851165" y="0"/>
            <a:ext cx="10167937" cy="11795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Avenir Next LT Pro" panose="020B0504020202020204" pitchFamily="34" charset="0"/>
              </a:rPr>
              <a:t>Shift invert, Why 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153F34-7DCA-7B13-004E-CE4CD8FFECFF}"/>
              </a:ext>
            </a:extLst>
          </p:cNvPr>
          <p:cNvSpPr/>
          <p:nvPr/>
        </p:nvSpPr>
        <p:spPr>
          <a:xfrm>
            <a:off x="520514" y="348162"/>
            <a:ext cx="207619" cy="464685"/>
          </a:xfrm>
          <a:prstGeom prst="rect">
            <a:avLst/>
          </a:prstGeom>
          <a:solidFill>
            <a:srgbClr val="F5A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5" name="Image 24" descr="Une image contenant texte, nombr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DE4D66FA-BDA9-455D-534B-A07BE8AB40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714" y="1581869"/>
            <a:ext cx="6116321" cy="3989197"/>
          </a:xfrm>
          <a:prstGeom prst="rect">
            <a:avLst/>
          </a:prstGeom>
        </p:spPr>
      </p:pic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3DF78111-8501-C67B-3178-26E11882F12C}"/>
              </a:ext>
            </a:extLst>
          </p:cNvPr>
          <p:cNvSpPr/>
          <p:nvPr/>
        </p:nvSpPr>
        <p:spPr>
          <a:xfrm>
            <a:off x="6470651" y="4387851"/>
            <a:ext cx="144462" cy="605518"/>
          </a:xfrm>
          <a:custGeom>
            <a:avLst/>
            <a:gdLst>
              <a:gd name="csX0" fmla="*/ 0 w 298072"/>
              <a:gd name="csY0" fmla="*/ 580571 h 580571"/>
              <a:gd name="csX1" fmla="*/ 297543 w 298072"/>
              <a:gd name="csY1" fmla="*/ 312057 h 580571"/>
              <a:gd name="csX2" fmla="*/ 58057 w 298072"/>
              <a:gd name="csY2" fmla="*/ 0 h 5805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8072" h="580571">
                <a:moveTo>
                  <a:pt x="0" y="580571"/>
                </a:moveTo>
                <a:cubicBezTo>
                  <a:pt x="143933" y="494695"/>
                  <a:pt x="287867" y="408819"/>
                  <a:pt x="297543" y="312057"/>
                </a:cubicBezTo>
                <a:cubicBezTo>
                  <a:pt x="307219" y="215295"/>
                  <a:pt x="182638" y="107647"/>
                  <a:pt x="58057" y="0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227C56FF-28C3-B04A-B0CE-24E28E0036F7}"/>
              </a:ext>
            </a:extLst>
          </p:cNvPr>
          <p:cNvSpPr/>
          <p:nvPr/>
        </p:nvSpPr>
        <p:spPr>
          <a:xfrm>
            <a:off x="6487584" y="3742268"/>
            <a:ext cx="144462" cy="605518"/>
          </a:xfrm>
          <a:custGeom>
            <a:avLst/>
            <a:gdLst>
              <a:gd name="csX0" fmla="*/ 0 w 298072"/>
              <a:gd name="csY0" fmla="*/ 580571 h 580571"/>
              <a:gd name="csX1" fmla="*/ 297543 w 298072"/>
              <a:gd name="csY1" fmla="*/ 312057 h 580571"/>
              <a:gd name="csX2" fmla="*/ 58057 w 298072"/>
              <a:gd name="csY2" fmla="*/ 0 h 5805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8072" h="580571">
                <a:moveTo>
                  <a:pt x="0" y="580571"/>
                </a:moveTo>
                <a:cubicBezTo>
                  <a:pt x="143933" y="494695"/>
                  <a:pt x="287867" y="408819"/>
                  <a:pt x="297543" y="312057"/>
                </a:cubicBezTo>
                <a:cubicBezTo>
                  <a:pt x="307219" y="215295"/>
                  <a:pt x="182638" y="107647"/>
                  <a:pt x="58057" y="0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EE70E541-A9AE-D03E-0457-ABFC12722A92}"/>
              </a:ext>
            </a:extLst>
          </p:cNvPr>
          <p:cNvSpPr/>
          <p:nvPr/>
        </p:nvSpPr>
        <p:spPr>
          <a:xfrm>
            <a:off x="6450701" y="2624667"/>
            <a:ext cx="144462" cy="470054"/>
          </a:xfrm>
          <a:custGeom>
            <a:avLst/>
            <a:gdLst>
              <a:gd name="csX0" fmla="*/ 0 w 298072"/>
              <a:gd name="csY0" fmla="*/ 580571 h 580571"/>
              <a:gd name="csX1" fmla="*/ 297543 w 298072"/>
              <a:gd name="csY1" fmla="*/ 312057 h 580571"/>
              <a:gd name="csX2" fmla="*/ 58057 w 298072"/>
              <a:gd name="csY2" fmla="*/ 0 h 5805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8072" h="580571">
                <a:moveTo>
                  <a:pt x="0" y="580571"/>
                </a:moveTo>
                <a:cubicBezTo>
                  <a:pt x="143933" y="494695"/>
                  <a:pt x="287867" y="408819"/>
                  <a:pt x="297543" y="312057"/>
                </a:cubicBezTo>
                <a:cubicBezTo>
                  <a:pt x="307219" y="215295"/>
                  <a:pt x="182638" y="107647"/>
                  <a:pt x="58057" y="0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AC67F3AA-CE29-F6D0-E606-224F06F805C0}"/>
              </a:ext>
            </a:extLst>
          </p:cNvPr>
          <p:cNvSpPr/>
          <p:nvPr/>
        </p:nvSpPr>
        <p:spPr>
          <a:xfrm>
            <a:off x="6450701" y="3134786"/>
            <a:ext cx="181345" cy="567417"/>
          </a:xfrm>
          <a:custGeom>
            <a:avLst/>
            <a:gdLst>
              <a:gd name="csX0" fmla="*/ 0 w 298072"/>
              <a:gd name="csY0" fmla="*/ 580571 h 580571"/>
              <a:gd name="csX1" fmla="*/ 297543 w 298072"/>
              <a:gd name="csY1" fmla="*/ 312057 h 580571"/>
              <a:gd name="csX2" fmla="*/ 58057 w 298072"/>
              <a:gd name="csY2" fmla="*/ 0 h 5805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8072" h="580571">
                <a:moveTo>
                  <a:pt x="0" y="580571"/>
                </a:moveTo>
                <a:cubicBezTo>
                  <a:pt x="143933" y="494695"/>
                  <a:pt x="287867" y="408819"/>
                  <a:pt x="297543" y="312057"/>
                </a:cubicBezTo>
                <a:cubicBezTo>
                  <a:pt x="307219" y="215295"/>
                  <a:pt x="182638" y="107647"/>
                  <a:pt x="58057" y="0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52E0D9D2-416D-0191-7F72-E29886CD2372}"/>
              </a:ext>
            </a:extLst>
          </p:cNvPr>
          <p:cNvSpPr/>
          <p:nvPr/>
        </p:nvSpPr>
        <p:spPr>
          <a:xfrm>
            <a:off x="6464724" y="2492375"/>
            <a:ext cx="64664" cy="121334"/>
          </a:xfrm>
          <a:custGeom>
            <a:avLst/>
            <a:gdLst>
              <a:gd name="csX0" fmla="*/ 0 w 298072"/>
              <a:gd name="csY0" fmla="*/ 580571 h 580571"/>
              <a:gd name="csX1" fmla="*/ 297543 w 298072"/>
              <a:gd name="csY1" fmla="*/ 312057 h 580571"/>
              <a:gd name="csX2" fmla="*/ 58057 w 298072"/>
              <a:gd name="csY2" fmla="*/ 0 h 5805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8072" h="580571">
                <a:moveTo>
                  <a:pt x="0" y="580571"/>
                </a:moveTo>
                <a:cubicBezTo>
                  <a:pt x="143933" y="494695"/>
                  <a:pt x="287867" y="408819"/>
                  <a:pt x="297543" y="312057"/>
                </a:cubicBezTo>
                <a:cubicBezTo>
                  <a:pt x="307219" y="215295"/>
                  <a:pt x="182638" y="107647"/>
                  <a:pt x="58057" y="0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45655637-2619-6555-0C08-64B38412E8BD}"/>
              </a:ext>
            </a:extLst>
          </p:cNvPr>
          <p:cNvSpPr/>
          <p:nvPr/>
        </p:nvSpPr>
        <p:spPr>
          <a:xfrm>
            <a:off x="6464724" y="2005876"/>
            <a:ext cx="144462" cy="470054"/>
          </a:xfrm>
          <a:custGeom>
            <a:avLst/>
            <a:gdLst>
              <a:gd name="csX0" fmla="*/ 0 w 298072"/>
              <a:gd name="csY0" fmla="*/ 580571 h 580571"/>
              <a:gd name="csX1" fmla="*/ 297543 w 298072"/>
              <a:gd name="csY1" fmla="*/ 312057 h 580571"/>
              <a:gd name="csX2" fmla="*/ 58057 w 298072"/>
              <a:gd name="csY2" fmla="*/ 0 h 5805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8072" h="580571">
                <a:moveTo>
                  <a:pt x="0" y="580571"/>
                </a:moveTo>
                <a:cubicBezTo>
                  <a:pt x="143933" y="494695"/>
                  <a:pt x="287867" y="408819"/>
                  <a:pt x="297543" y="312057"/>
                </a:cubicBezTo>
                <a:cubicBezTo>
                  <a:pt x="307219" y="215295"/>
                  <a:pt x="182638" y="107647"/>
                  <a:pt x="58057" y="0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EF9A5E5A-6BD1-F6DA-0FAA-738A6C1B5733}"/>
              </a:ext>
            </a:extLst>
          </p:cNvPr>
          <p:cNvSpPr/>
          <p:nvPr/>
        </p:nvSpPr>
        <p:spPr>
          <a:xfrm>
            <a:off x="6357938" y="1965327"/>
            <a:ext cx="92763" cy="9276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7FC04D3-9AB1-53CA-D231-10DBEAF7CF7E}"/>
              </a:ext>
            </a:extLst>
          </p:cNvPr>
          <p:cNvSpPr txBox="1"/>
          <p:nvPr/>
        </p:nvSpPr>
        <p:spPr>
          <a:xfrm>
            <a:off x="6172539" y="1412223"/>
            <a:ext cx="132247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 dirty="0" err="1">
                <a:solidFill>
                  <a:schemeClr val="accent1"/>
                </a:solidFill>
              </a:rPr>
              <a:t>Aimed</a:t>
            </a:r>
            <a:r>
              <a:rPr lang="fr-FR" sz="1500" dirty="0">
                <a:solidFill>
                  <a:schemeClr val="accent1"/>
                </a:solidFill>
              </a:rPr>
              <a:t> state</a:t>
            </a:r>
            <a:endParaRPr lang="en-GB" sz="1500" dirty="0">
              <a:solidFill>
                <a:schemeClr val="accent1"/>
              </a:solidFill>
            </a:endParaRPr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64284E29-7304-245C-8517-6658E9DD94A5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6464724" y="1735388"/>
            <a:ext cx="369055" cy="215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ZoneTexte 12">
            <a:extLst>
              <a:ext uri="{FF2B5EF4-FFF2-40B4-BE49-F238E27FC236}">
                <a16:creationId xmlns:a16="http://schemas.microsoft.com/office/drawing/2014/main" id="{E2A129F5-9A10-9CD3-2084-855D92769146}"/>
              </a:ext>
            </a:extLst>
          </p:cNvPr>
          <p:cNvSpPr txBox="1"/>
          <p:nvPr/>
        </p:nvSpPr>
        <p:spPr>
          <a:xfrm>
            <a:off x="6713035" y="4555596"/>
            <a:ext cx="6379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>
                <a:solidFill>
                  <a:srgbClr val="FF0000"/>
                </a:solidFill>
              </a:rPr>
              <a:t>Climbing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A98DFCBF-053D-F40F-92B8-4940657E166B}"/>
              </a:ext>
            </a:extLst>
          </p:cNvPr>
          <p:cNvSpPr txBox="1"/>
          <p:nvPr/>
        </p:nvSpPr>
        <p:spPr>
          <a:xfrm>
            <a:off x="7654052" y="946869"/>
            <a:ext cx="3767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Current</a:t>
            </a:r>
            <a:r>
              <a:rPr lang="fr-FR" dirty="0"/>
              <a:t> </a:t>
            </a:r>
            <a:r>
              <a:rPr lang="fr-FR" dirty="0" err="1"/>
              <a:t>algorithm</a:t>
            </a:r>
            <a:r>
              <a:rPr lang="fr-FR" dirty="0"/>
              <a:t> : Krylov Solver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AA9FC9-4682-9C14-FE8A-EA81F85BF3FE}"/>
              </a:ext>
            </a:extLst>
          </p:cNvPr>
          <p:cNvSpPr/>
          <p:nvPr/>
        </p:nvSpPr>
        <p:spPr>
          <a:xfrm>
            <a:off x="7861300" y="946869"/>
            <a:ext cx="331893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3296794F-7F95-6057-7195-F6C392896C57}"/>
              </a:ext>
            </a:extLst>
          </p:cNvPr>
          <p:cNvSpPr txBox="1"/>
          <p:nvPr/>
        </p:nvSpPr>
        <p:spPr>
          <a:xfrm>
            <a:off x="7035892" y="1532895"/>
            <a:ext cx="496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2 issues :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645304A-7C47-6924-B7F9-214347659094}"/>
              </a:ext>
            </a:extLst>
          </p:cNvPr>
          <p:cNvSpPr txBox="1"/>
          <p:nvPr/>
        </p:nvSpPr>
        <p:spPr>
          <a:xfrm>
            <a:off x="6494780" y="1902227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fr-FR" b="1" dirty="0"/>
          </a:p>
          <a:p>
            <a:pPr algn="ctr"/>
            <a:r>
              <a:rPr lang="fr-FR" u="sng" dirty="0" err="1"/>
              <a:t>Climbing</a:t>
            </a:r>
            <a:r>
              <a:rPr lang="fr-FR" u="sng" dirty="0"/>
              <a:t> the </a:t>
            </a:r>
            <a:r>
              <a:rPr lang="fr-FR" u="sng" dirty="0" err="1"/>
              <a:t>whole</a:t>
            </a:r>
            <a:r>
              <a:rPr lang="fr-FR" u="sng" dirty="0"/>
              <a:t> </a:t>
            </a:r>
            <a:r>
              <a:rPr lang="fr-FR" u="sng" dirty="0" err="1"/>
              <a:t>spectrum</a:t>
            </a:r>
            <a:endParaRPr lang="fr-FR" u="sng" dirty="0"/>
          </a:p>
          <a:p>
            <a:pPr algn="ctr"/>
            <a:endParaRPr lang="fr-FR" dirty="0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9DE680AD-972C-4727-A7F6-5D82E39A1D7B}"/>
              </a:ext>
            </a:extLst>
          </p:cNvPr>
          <p:cNvSpPr/>
          <p:nvPr/>
        </p:nvSpPr>
        <p:spPr>
          <a:xfrm>
            <a:off x="7396255" y="2538676"/>
            <a:ext cx="119062" cy="119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ZoneTexte 20">
                <a:extLst>
                  <a:ext uri="{FF2B5EF4-FFF2-40B4-BE49-F238E27FC236}">
                    <a16:creationId xmlns:a16="http://schemas.microsoft.com/office/drawing/2014/main" id="{80D852BF-C56D-DB86-2572-E2505F1BEF54}"/>
                  </a:ext>
                </a:extLst>
              </p:cNvPr>
              <p:cNvSpPr txBox="1"/>
              <p:nvPr/>
            </p:nvSpPr>
            <p:spPr>
              <a:xfrm>
                <a:off x="6494780" y="2593506"/>
                <a:ext cx="637902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fr-FR" dirty="0"/>
                  <a:t>To have n-th state : </a:t>
                </a:r>
                <a:r>
                  <a:rPr lang="fr-FR" dirty="0" err="1"/>
                  <a:t>compute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⟦"/>
                        <m:endChr m:val="⟧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1" name="ZoneTexte 20">
                <a:extLst>
                  <a:ext uri="{FF2B5EF4-FFF2-40B4-BE49-F238E27FC236}">
                    <a16:creationId xmlns:a16="http://schemas.microsoft.com/office/drawing/2014/main" id="{80D852BF-C56D-DB86-2572-E2505F1BEF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4780" y="2593506"/>
                <a:ext cx="6379028" cy="369332"/>
              </a:xfrm>
              <a:prstGeom prst="rect">
                <a:avLst/>
              </a:prstGeom>
              <a:blipFill>
                <a:blip r:embed="rId3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5271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49FDA-409E-D1B2-D5AC-F58B04DDB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129668F5-DD79-BE48-0F91-E4E4A36D0463}"/>
              </a:ext>
            </a:extLst>
          </p:cNvPr>
          <p:cNvSpPr>
            <a:spLocks noGrp="1"/>
          </p:cNvSpPr>
          <p:nvPr/>
        </p:nvSpPr>
        <p:spPr>
          <a:xfrm>
            <a:off x="851165" y="0"/>
            <a:ext cx="10167937" cy="11795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Avenir Next LT Pro" panose="020B0504020202020204" pitchFamily="34" charset="0"/>
              </a:rPr>
              <a:t>Shift invert, Why 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B23A669-A541-C725-59D7-9B8D45A6372E}"/>
              </a:ext>
            </a:extLst>
          </p:cNvPr>
          <p:cNvSpPr/>
          <p:nvPr/>
        </p:nvSpPr>
        <p:spPr>
          <a:xfrm>
            <a:off x="520514" y="348162"/>
            <a:ext cx="207619" cy="464685"/>
          </a:xfrm>
          <a:prstGeom prst="rect">
            <a:avLst/>
          </a:prstGeom>
          <a:solidFill>
            <a:srgbClr val="F5A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5" name="Image 24" descr="Une image contenant texte, nombr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212093B6-7DDF-84FE-3893-A8EDBD94E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714" y="1581869"/>
            <a:ext cx="6116321" cy="3989197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31220562-E688-5664-A7E1-857B113F96B4}"/>
              </a:ext>
            </a:extLst>
          </p:cNvPr>
          <p:cNvSpPr txBox="1"/>
          <p:nvPr/>
        </p:nvSpPr>
        <p:spPr>
          <a:xfrm>
            <a:off x="7654052" y="946869"/>
            <a:ext cx="3767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Current</a:t>
            </a:r>
            <a:r>
              <a:rPr lang="fr-FR" dirty="0"/>
              <a:t> </a:t>
            </a:r>
            <a:r>
              <a:rPr lang="fr-FR" dirty="0" err="1"/>
              <a:t>algorithm</a:t>
            </a:r>
            <a:r>
              <a:rPr lang="fr-FR" dirty="0"/>
              <a:t> : Krylov Solver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E2369FF-A783-7DF2-8DC6-C66AD59B9FBB}"/>
              </a:ext>
            </a:extLst>
          </p:cNvPr>
          <p:cNvSpPr/>
          <p:nvPr/>
        </p:nvSpPr>
        <p:spPr>
          <a:xfrm>
            <a:off x="7861300" y="946869"/>
            <a:ext cx="331893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E410C43E-5B40-51B7-1AF2-6DAB339DA142}"/>
              </a:ext>
            </a:extLst>
          </p:cNvPr>
          <p:cNvSpPr txBox="1"/>
          <p:nvPr/>
        </p:nvSpPr>
        <p:spPr>
          <a:xfrm>
            <a:off x="7035892" y="1532895"/>
            <a:ext cx="496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2 issues :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EE0A15D4-2482-7657-929B-17955C5A2FCA}"/>
              </a:ext>
            </a:extLst>
          </p:cNvPr>
          <p:cNvSpPr txBox="1"/>
          <p:nvPr/>
        </p:nvSpPr>
        <p:spPr>
          <a:xfrm>
            <a:off x="6494780" y="1902227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fr-FR" b="1" dirty="0"/>
          </a:p>
          <a:p>
            <a:pPr algn="ctr"/>
            <a:r>
              <a:rPr lang="fr-FR" u="sng" dirty="0" err="1"/>
              <a:t>Climbing</a:t>
            </a:r>
            <a:r>
              <a:rPr lang="fr-FR" u="sng" dirty="0"/>
              <a:t> the </a:t>
            </a:r>
            <a:r>
              <a:rPr lang="fr-FR" u="sng" dirty="0" err="1"/>
              <a:t>whole</a:t>
            </a:r>
            <a:r>
              <a:rPr lang="fr-FR" u="sng" dirty="0"/>
              <a:t> </a:t>
            </a:r>
            <a:r>
              <a:rPr lang="fr-FR" u="sng" dirty="0" err="1"/>
              <a:t>spectrum</a:t>
            </a:r>
            <a:endParaRPr lang="fr-FR" u="sng" dirty="0"/>
          </a:p>
          <a:p>
            <a:pPr algn="ctr"/>
            <a:endParaRPr lang="fr-FR" dirty="0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FA03F48F-2873-5E3E-1017-4770C3E2B997}"/>
              </a:ext>
            </a:extLst>
          </p:cNvPr>
          <p:cNvSpPr/>
          <p:nvPr/>
        </p:nvSpPr>
        <p:spPr>
          <a:xfrm>
            <a:off x="7396255" y="2538676"/>
            <a:ext cx="119062" cy="119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30B7EC4A-3C19-53C5-B8F4-70965C108862}"/>
              </a:ext>
            </a:extLst>
          </p:cNvPr>
          <p:cNvSpPr/>
          <p:nvPr/>
        </p:nvSpPr>
        <p:spPr>
          <a:xfrm>
            <a:off x="7404398" y="4307299"/>
            <a:ext cx="119062" cy="119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40561AA-5E1E-4D3D-8802-BAA19E2AFCD2}"/>
              </a:ext>
            </a:extLst>
          </p:cNvPr>
          <p:cNvSpPr txBox="1"/>
          <p:nvPr/>
        </p:nvSpPr>
        <p:spPr>
          <a:xfrm>
            <a:off x="6472766" y="321957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fr-FR" b="1" dirty="0"/>
          </a:p>
          <a:p>
            <a:pPr algn="ctr"/>
            <a:r>
              <a:rPr lang="fr-FR" u="sng" dirty="0" err="1"/>
              <a:t>Discarding</a:t>
            </a:r>
            <a:r>
              <a:rPr lang="fr-FR" u="sng" dirty="0"/>
              <a:t> </a:t>
            </a:r>
            <a:r>
              <a:rPr lang="fr-FR" u="sng" dirty="0" err="1"/>
              <a:t>previous</a:t>
            </a:r>
            <a:r>
              <a:rPr lang="fr-FR" u="sng" dirty="0"/>
              <a:t> information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3A123EC-3C34-4BC7-920D-F4DB4C71D5EF}"/>
              </a:ext>
            </a:extLst>
          </p:cNvPr>
          <p:cNvSpPr/>
          <p:nvPr/>
        </p:nvSpPr>
        <p:spPr>
          <a:xfrm>
            <a:off x="1683670" y="1821543"/>
            <a:ext cx="290286" cy="334554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D7BBFEED-E969-BF0F-6620-0CAEC3F4350B}"/>
              </a:ext>
            </a:extLst>
          </p:cNvPr>
          <p:cNvSpPr/>
          <p:nvPr/>
        </p:nvSpPr>
        <p:spPr>
          <a:xfrm>
            <a:off x="2257573" y="1821542"/>
            <a:ext cx="290286" cy="334554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42E91B7-EEB5-4D33-B08C-5680CA7A75DE}"/>
              </a:ext>
            </a:extLst>
          </p:cNvPr>
          <p:cNvSpPr txBox="1"/>
          <p:nvPr/>
        </p:nvSpPr>
        <p:spPr>
          <a:xfrm>
            <a:off x="537629" y="5406758"/>
            <a:ext cx="20102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 err="1">
                <a:solidFill>
                  <a:srgbClr val="FF0000"/>
                </a:solidFill>
              </a:rPr>
              <a:t>Previous</a:t>
            </a:r>
            <a:r>
              <a:rPr lang="fr-FR" sz="1600" dirty="0">
                <a:solidFill>
                  <a:srgbClr val="FF0000"/>
                </a:solidFill>
              </a:rPr>
              <a:t> computation</a:t>
            </a:r>
            <a:endParaRPr lang="en-GB" sz="1600" dirty="0">
              <a:solidFill>
                <a:srgbClr val="FF0000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6A80BEF-CCD2-6E94-17A0-007B441A1E08}"/>
              </a:ext>
            </a:extLst>
          </p:cNvPr>
          <p:cNvSpPr txBox="1"/>
          <p:nvPr/>
        </p:nvSpPr>
        <p:spPr>
          <a:xfrm>
            <a:off x="1663350" y="5406758"/>
            <a:ext cx="20102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FF0000"/>
                </a:solidFill>
              </a:rPr>
              <a:t>Next </a:t>
            </a:r>
          </a:p>
          <a:p>
            <a:pPr algn="ctr"/>
            <a:r>
              <a:rPr lang="fr-FR" sz="1600" dirty="0">
                <a:solidFill>
                  <a:srgbClr val="FF0000"/>
                </a:solidFill>
              </a:rPr>
              <a:t>one</a:t>
            </a:r>
            <a:endParaRPr lang="en-GB" sz="1600" dirty="0">
              <a:solidFill>
                <a:srgbClr val="FF0000"/>
              </a:solidFill>
            </a:endParaRPr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449344F-BD01-F5AA-6720-2B175A3A2F22}"/>
              </a:ext>
            </a:extLst>
          </p:cNvPr>
          <p:cNvSpPr/>
          <p:nvPr/>
        </p:nvSpPr>
        <p:spPr>
          <a:xfrm rot="5048221">
            <a:off x="2051957" y="5148124"/>
            <a:ext cx="144462" cy="517264"/>
          </a:xfrm>
          <a:custGeom>
            <a:avLst/>
            <a:gdLst>
              <a:gd name="csX0" fmla="*/ 0 w 298072"/>
              <a:gd name="csY0" fmla="*/ 580571 h 580571"/>
              <a:gd name="csX1" fmla="*/ 297543 w 298072"/>
              <a:gd name="csY1" fmla="*/ 312057 h 580571"/>
              <a:gd name="csX2" fmla="*/ 58057 w 298072"/>
              <a:gd name="csY2" fmla="*/ 0 h 5805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8072" h="580571">
                <a:moveTo>
                  <a:pt x="0" y="580571"/>
                </a:moveTo>
                <a:cubicBezTo>
                  <a:pt x="143933" y="494695"/>
                  <a:pt x="287867" y="408819"/>
                  <a:pt x="297543" y="312057"/>
                </a:cubicBezTo>
                <a:cubicBezTo>
                  <a:pt x="307219" y="215295"/>
                  <a:pt x="182638" y="107647"/>
                  <a:pt x="58057" y="0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FF0000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E9A1FF2-7124-27F6-5D80-DA45147AA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0929" y="4026646"/>
            <a:ext cx="2893911" cy="267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C33B328F-B9D7-83A7-04C5-ACDEAF7499D4}"/>
                  </a:ext>
                </a:extLst>
              </p:cNvPr>
              <p:cNvSpPr txBox="1"/>
              <p:nvPr/>
            </p:nvSpPr>
            <p:spPr>
              <a:xfrm>
                <a:off x="6494780" y="2593506"/>
                <a:ext cx="637902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fr-FR" dirty="0"/>
                  <a:t>To have n-th state : </a:t>
                </a:r>
                <a:r>
                  <a:rPr lang="fr-FR" dirty="0" err="1"/>
                  <a:t>compute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⟦"/>
                        <m:endChr m:val="⟧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C33B328F-B9D7-83A7-04C5-ACDEAF749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4780" y="2593506"/>
                <a:ext cx="6379028" cy="369332"/>
              </a:xfrm>
              <a:prstGeom prst="rect">
                <a:avLst/>
              </a:prstGeom>
              <a:blipFill>
                <a:blip r:embed="rId4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7076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69B1B-D961-C661-E98E-370743D09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D212A677-3EF6-3E8D-A6E3-BC06206A0C02}"/>
              </a:ext>
            </a:extLst>
          </p:cNvPr>
          <p:cNvSpPr>
            <a:spLocks noGrp="1"/>
          </p:cNvSpPr>
          <p:nvPr/>
        </p:nvSpPr>
        <p:spPr>
          <a:xfrm>
            <a:off x="851165" y="0"/>
            <a:ext cx="10167937" cy="11795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Avenir Next LT Pro" panose="020B0504020202020204" pitchFamily="34" charset="0"/>
              </a:rPr>
              <a:t>Shift invert, Why 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8901FFB-93BF-215E-C496-D06B504DDEDB}"/>
              </a:ext>
            </a:extLst>
          </p:cNvPr>
          <p:cNvSpPr/>
          <p:nvPr/>
        </p:nvSpPr>
        <p:spPr>
          <a:xfrm>
            <a:off x="520514" y="348162"/>
            <a:ext cx="207619" cy="464685"/>
          </a:xfrm>
          <a:prstGeom prst="rect">
            <a:avLst/>
          </a:prstGeom>
          <a:solidFill>
            <a:srgbClr val="F5A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5" name="Image 24" descr="Une image contenant texte, nombr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18950DE9-572D-8FBF-347B-1DE2CE1106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714" y="1581869"/>
            <a:ext cx="6116321" cy="3989197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6A695A05-1D27-1AB9-4C0A-31D486323887}"/>
              </a:ext>
            </a:extLst>
          </p:cNvPr>
          <p:cNvSpPr txBox="1"/>
          <p:nvPr/>
        </p:nvSpPr>
        <p:spPr>
          <a:xfrm>
            <a:off x="7213785" y="946869"/>
            <a:ext cx="4674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Current</a:t>
            </a:r>
            <a:r>
              <a:rPr lang="fr-FR" dirty="0"/>
              <a:t> </a:t>
            </a:r>
            <a:r>
              <a:rPr lang="fr-FR" dirty="0" err="1"/>
              <a:t>algorithm</a:t>
            </a:r>
            <a:r>
              <a:rPr lang="fr-FR" dirty="0"/>
              <a:t> : Krylov Solver (</a:t>
            </a:r>
            <a:r>
              <a:rPr lang="fr-FR" dirty="0" err="1"/>
              <a:t>Lanczos</a:t>
            </a:r>
            <a:r>
              <a:rPr lang="fr-FR" dirty="0"/>
              <a:t>)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69D5565-7381-0447-CF9D-6185EEBB5272}"/>
              </a:ext>
            </a:extLst>
          </p:cNvPr>
          <p:cNvSpPr/>
          <p:nvPr/>
        </p:nvSpPr>
        <p:spPr>
          <a:xfrm>
            <a:off x="7330359" y="982011"/>
            <a:ext cx="435364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D9240DFC-EAD9-95FF-C3FA-A4F1AFC3BC2C}"/>
              </a:ext>
            </a:extLst>
          </p:cNvPr>
          <p:cNvSpPr txBox="1"/>
          <p:nvPr/>
        </p:nvSpPr>
        <p:spPr>
          <a:xfrm>
            <a:off x="7035892" y="1532895"/>
            <a:ext cx="496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2 issues :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6F20321-AC5B-3836-9B15-202DEE23C73E}"/>
              </a:ext>
            </a:extLst>
          </p:cNvPr>
          <p:cNvSpPr txBox="1"/>
          <p:nvPr/>
        </p:nvSpPr>
        <p:spPr>
          <a:xfrm>
            <a:off x="6494780" y="1902227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fr-FR" b="1" dirty="0"/>
          </a:p>
          <a:p>
            <a:pPr algn="ctr"/>
            <a:r>
              <a:rPr lang="fr-FR" u="sng" dirty="0" err="1"/>
              <a:t>Climbing</a:t>
            </a:r>
            <a:r>
              <a:rPr lang="fr-FR" u="sng" dirty="0"/>
              <a:t> the </a:t>
            </a:r>
            <a:r>
              <a:rPr lang="fr-FR" u="sng" dirty="0" err="1"/>
              <a:t>whole</a:t>
            </a:r>
            <a:r>
              <a:rPr lang="fr-FR" u="sng" dirty="0"/>
              <a:t> </a:t>
            </a:r>
            <a:r>
              <a:rPr lang="fr-FR" u="sng" dirty="0" err="1"/>
              <a:t>spectrum</a:t>
            </a:r>
            <a:endParaRPr lang="fr-FR" u="sng" dirty="0"/>
          </a:p>
          <a:p>
            <a:pPr algn="ctr"/>
            <a:endParaRPr lang="fr-FR" dirty="0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661EA45F-0355-B6D3-946E-6E1EF3BE0307}"/>
              </a:ext>
            </a:extLst>
          </p:cNvPr>
          <p:cNvSpPr/>
          <p:nvPr/>
        </p:nvSpPr>
        <p:spPr>
          <a:xfrm>
            <a:off x="7396255" y="2538676"/>
            <a:ext cx="119062" cy="119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9CA086A1-C83D-F944-694B-410235AF861A}"/>
              </a:ext>
            </a:extLst>
          </p:cNvPr>
          <p:cNvSpPr/>
          <p:nvPr/>
        </p:nvSpPr>
        <p:spPr>
          <a:xfrm>
            <a:off x="7404398" y="4307299"/>
            <a:ext cx="119062" cy="119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8950543-9483-5E32-C2C3-A6AF494E4451}"/>
              </a:ext>
            </a:extLst>
          </p:cNvPr>
          <p:cNvSpPr txBox="1"/>
          <p:nvPr/>
        </p:nvSpPr>
        <p:spPr>
          <a:xfrm>
            <a:off x="6472766" y="321957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fr-FR" b="1" dirty="0"/>
          </a:p>
          <a:p>
            <a:pPr algn="ctr"/>
            <a:r>
              <a:rPr lang="fr-FR" u="sng" dirty="0" err="1"/>
              <a:t>Discarding</a:t>
            </a:r>
            <a:r>
              <a:rPr lang="fr-FR" u="sng" dirty="0"/>
              <a:t> </a:t>
            </a:r>
            <a:r>
              <a:rPr lang="fr-FR" u="sng" dirty="0" err="1"/>
              <a:t>previous</a:t>
            </a:r>
            <a:r>
              <a:rPr lang="fr-FR" u="sng" dirty="0"/>
              <a:t> information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8746464F-446E-2F4C-1814-FDAE2884DF6F}"/>
              </a:ext>
            </a:extLst>
          </p:cNvPr>
          <p:cNvSpPr/>
          <p:nvPr/>
        </p:nvSpPr>
        <p:spPr>
          <a:xfrm>
            <a:off x="1683670" y="1821543"/>
            <a:ext cx="290286" cy="334554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618175C-B619-79CB-729B-D3175D74E5A1}"/>
              </a:ext>
            </a:extLst>
          </p:cNvPr>
          <p:cNvSpPr/>
          <p:nvPr/>
        </p:nvSpPr>
        <p:spPr>
          <a:xfrm>
            <a:off x="2257573" y="1821542"/>
            <a:ext cx="290286" cy="334554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B80CF4F-B4C0-A7C9-BBB6-769C3752D5B1}"/>
              </a:ext>
            </a:extLst>
          </p:cNvPr>
          <p:cNvSpPr txBox="1"/>
          <p:nvPr/>
        </p:nvSpPr>
        <p:spPr>
          <a:xfrm>
            <a:off x="537629" y="5406758"/>
            <a:ext cx="20102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 err="1">
                <a:solidFill>
                  <a:srgbClr val="FF0000"/>
                </a:solidFill>
              </a:rPr>
              <a:t>Previous</a:t>
            </a:r>
            <a:r>
              <a:rPr lang="fr-FR" sz="1600" dirty="0">
                <a:solidFill>
                  <a:srgbClr val="FF0000"/>
                </a:solidFill>
              </a:rPr>
              <a:t> computation</a:t>
            </a:r>
            <a:endParaRPr lang="en-GB" sz="1600" dirty="0">
              <a:solidFill>
                <a:srgbClr val="FF0000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3B50C0E-AF1E-204A-A3A7-6B6A73565EEB}"/>
              </a:ext>
            </a:extLst>
          </p:cNvPr>
          <p:cNvSpPr txBox="1"/>
          <p:nvPr/>
        </p:nvSpPr>
        <p:spPr>
          <a:xfrm>
            <a:off x="1663350" y="5406758"/>
            <a:ext cx="20102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FF0000"/>
                </a:solidFill>
              </a:rPr>
              <a:t>Next </a:t>
            </a:r>
          </a:p>
          <a:p>
            <a:pPr algn="ctr"/>
            <a:r>
              <a:rPr lang="fr-FR" sz="1600" dirty="0">
                <a:solidFill>
                  <a:srgbClr val="FF0000"/>
                </a:solidFill>
              </a:rPr>
              <a:t>one</a:t>
            </a:r>
            <a:endParaRPr lang="en-GB" sz="1600" dirty="0">
              <a:solidFill>
                <a:srgbClr val="FF0000"/>
              </a:solidFill>
            </a:endParaRPr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8016FB2B-73A2-D891-F70F-549548679C27}"/>
              </a:ext>
            </a:extLst>
          </p:cNvPr>
          <p:cNvSpPr/>
          <p:nvPr/>
        </p:nvSpPr>
        <p:spPr>
          <a:xfrm rot="5048221">
            <a:off x="2051957" y="5148124"/>
            <a:ext cx="144462" cy="517264"/>
          </a:xfrm>
          <a:custGeom>
            <a:avLst/>
            <a:gdLst>
              <a:gd name="csX0" fmla="*/ 0 w 298072"/>
              <a:gd name="csY0" fmla="*/ 580571 h 580571"/>
              <a:gd name="csX1" fmla="*/ 297543 w 298072"/>
              <a:gd name="csY1" fmla="*/ 312057 h 580571"/>
              <a:gd name="csX2" fmla="*/ 58057 w 298072"/>
              <a:gd name="csY2" fmla="*/ 0 h 5805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8072" h="580571">
                <a:moveTo>
                  <a:pt x="0" y="580571"/>
                </a:moveTo>
                <a:cubicBezTo>
                  <a:pt x="143933" y="494695"/>
                  <a:pt x="287867" y="408819"/>
                  <a:pt x="297543" y="312057"/>
                </a:cubicBezTo>
                <a:cubicBezTo>
                  <a:pt x="307219" y="215295"/>
                  <a:pt x="182638" y="107647"/>
                  <a:pt x="58057" y="0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FF0000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2A6311A-3C81-47F9-7326-7A9A86FF3D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0929" y="4026646"/>
            <a:ext cx="2893911" cy="267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98BC5706-CF94-171C-F989-DB8870CBFDA2}"/>
                  </a:ext>
                </a:extLst>
              </p:cNvPr>
              <p:cNvSpPr txBox="1"/>
              <p:nvPr/>
            </p:nvSpPr>
            <p:spPr>
              <a:xfrm>
                <a:off x="6494780" y="2593506"/>
                <a:ext cx="637902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fr-FR" dirty="0"/>
                  <a:t>To have n-th state : </a:t>
                </a:r>
                <a:r>
                  <a:rPr lang="fr-FR" dirty="0" err="1"/>
                  <a:t>compute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⟦"/>
                        <m:endChr m:val="⟧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98BC5706-CF94-171C-F989-DB8870CBF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4780" y="2593506"/>
                <a:ext cx="6379028" cy="369332"/>
              </a:xfrm>
              <a:prstGeom prst="rect">
                <a:avLst/>
              </a:prstGeom>
              <a:blipFill>
                <a:blip r:embed="rId4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60" name="Picture 12">
            <a:extLst>
              <a:ext uri="{FF2B5EF4-FFF2-40B4-BE49-F238E27FC236}">
                <a16:creationId xmlns:a16="http://schemas.microsoft.com/office/drawing/2014/main" id="{FAA530A1-91E3-9576-135D-AF884EFC04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91361" y="4495603"/>
            <a:ext cx="3531559" cy="336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169D11BB-3B35-2F0E-B305-349ADF010E1F}"/>
              </a:ext>
            </a:extLst>
          </p:cNvPr>
          <p:cNvSpPr/>
          <p:nvPr/>
        </p:nvSpPr>
        <p:spPr>
          <a:xfrm rot="10800000">
            <a:off x="7770627" y="4122633"/>
            <a:ext cx="181345" cy="567417"/>
          </a:xfrm>
          <a:custGeom>
            <a:avLst/>
            <a:gdLst>
              <a:gd name="csX0" fmla="*/ 0 w 298072"/>
              <a:gd name="csY0" fmla="*/ 580571 h 580571"/>
              <a:gd name="csX1" fmla="*/ 297543 w 298072"/>
              <a:gd name="csY1" fmla="*/ 312057 h 580571"/>
              <a:gd name="csX2" fmla="*/ 58057 w 298072"/>
              <a:gd name="csY2" fmla="*/ 0 h 5805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8072" h="580571">
                <a:moveTo>
                  <a:pt x="0" y="580571"/>
                </a:moveTo>
                <a:cubicBezTo>
                  <a:pt x="143933" y="494695"/>
                  <a:pt x="287867" y="408819"/>
                  <a:pt x="297543" y="312057"/>
                </a:cubicBezTo>
                <a:cubicBezTo>
                  <a:pt x="307219" y="215295"/>
                  <a:pt x="182638" y="107647"/>
                  <a:pt x="58057" y="0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FF0000"/>
              </a:solidFill>
            </a:endParaRPr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C0D2ABD3-FD28-B5DE-0110-37E24D8D93E8}"/>
              </a:ext>
            </a:extLst>
          </p:cNvPr>
          <p:cNvCxnSpPr>
            <a:stCxn id="2050" idx="1"/>
            <a:endCxn id="2050" idx="3"/>
          </p:cNvCxnSpPr>
          <p:nvPr/>
        </p:nvCxnSpPr>
        <p:spPr>
          <a:xfrm>
            <a:off x="8090929" y="4160414"/>
            <a:ext cx="289391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Accolade ouvrante 14">
            <a:extLst>
              <a:ext uri="{FF2B5EF4-FFF2-40B4-BE49-F238E27FC236}">
                <a16:creationId xmlns:a16="http://schemas.microsoft.com/office/drawing/2014/main" id="{CF104BEF-EB68-9DD4-1AA6-6831CA816826}"/>
              </a:ext>
            </a:extLst>
          </p:cNvPr>
          <p:cNvSpPr/>
          <p:nvPr/>
        </p:nvSpPr>
        <p:spPr>
          <a:xfrm rot="16200000">
            <a:off x="9781813" y="3322956"/>
            <a:ext cx="218560" cy="360032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E1BC67D-5594-86F4-6222-6C0547D39D34}"/>
              </a:ext>
            </a:extLst>
          </p:cNvPr>
          <p:cNvSpPr txBox="1"/>
          <p:nvPr/>
        </p:nvSpPr>
        <p:spPr>
          <a:xfrm>
            <a:off x="8148140" y="5308354"/>
            <a:ext cx="3600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FF0000"/>
                </a:solidFill>
              </a:rPr>
              <a:t>Re-do the </a:t>
            </a:r>
            <a:r>
              <a:rPr lang="fr-FR" sz="1600" dirty="0" err="1">
                <a:solidFill>
                  <a:srgbClr val="FF0000"/>
                </a:solidFill>
              </a:rPr>
              <a:t>whole</a:t>
            </a:r>
            <a:r>
              <a:rPr lang="fr-FR" sz="1600" dirty="0">
                <a:solidFill>
                  <a:srgbClr val="FF0000"/>
                </a:solidFill>
              </a:rPr>
              <a:t> computation</a:t>
            </a:r>
            <a:endParaRPr lang="en-GB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73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49E77-26A4-FCC1-F02C-97CD1AA0E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06BC2B6E-D425-CE9E-7DD2-275178F00196}"/>
              </a:ext>
            </a:extLst>
          </p:cNvPr>
          <p:cNvSpPr>
            <a:spLocks noGrp="1"/>
          </p:cNvSpPr>
          <p:nvPr/>
        </p:nvSpPr>
        <p:spPr>
          <a:xfrm>
            <a:off x="851165" y="0"/>
            <a:ext cx="10167937" cy="11795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Avenir Next LT Pro" panose="020B0504020202020204" pitchFamily="34" charset="0"/>
              </a:rPr>
              <a:t>Shift invert, Why 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983AD5C-4F0C-0ACC-4D09-F875C3B4BF49}"/>
              </a:ext>
            </a:extLst>
          </p:cNvPr>
          <p:cNvSpPr/>
          <p:nvPr/>
        </p:nvSpPr>
        <p:spPr>
          <a:xfrm>
            <a:off x="520514" y="348162"/>
            <a:ext cx="207619" cy="464685"/>
          </a:xfrm>
          <a:prstGeom prst="rect">
            <a:avLst/>
          </a:prstGeom>
          <a:solidFill>
            <a:srgbClr val="F5A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5" name="Image 24" descr="Une image contenant texte, nombr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8177F94D-D9FB-A8C2-AA9E-AC62FF7DC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714" y="1581869"/>
            <a:ext cx="6116321" cy="3989197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6B6DA8A4-E334-6366-6125-651E55CC0D06}"/>
              </a:ext>
            </a:extLst>
          </p:cNvPr>
          <p:cNvSpPr txBox="1"/>
          <p:nvPr/>
        </p:nvSpPr>
        <p:spPr>
          <a:xfrm>
            <a:off x="7654052" y="946869"/>
            <a:ext cx="3767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Current</a:t>
            </a:r>
            <a:r>
              <a:rPr lang="fr-FR" dirty="0"/>
              <a:t> </a:t>
            </a:r>
            <a:r>
              <a:rPr lang="fr-FR" dirty="0" err="1"/>
              <a:t>algorithm</a:t>
            </a:r>
            <a:r>
              <a:rPr lang="fr-FR" dirty="0"/>
              <a:t> : Krylov Solver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228D1C0-C20C-6DC3-E42F-6AFABFDD2900}"/>
              </a:ext>
            </a:extLst>
          </p:cNvPr>
          <p:cNvSpPr/>
          <p:nvPr/>
        </p:nvSpPr>
        <p:spPr>
          <a:xfrm>
            <a:off x="7861300" y="946869"/>
            <a:ext cx="331893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902B0846-BC04-409B-5C65-1AF165D468DC}"/>
              </a:ext>
            </a:extLst>
          </p:cNvPr>
          <p:cNvSpPr txBox="1"/>
          <p:nvPr/>
        </p:nvSpPr>
        <p:spPr>
          <a:xfrm>
            <a:off x="7035892" y="1532895"/>
            <a:ext cx="496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2 issues :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C831E85-DBC4-162F-9C6F-1DB66C5E2982}"/>
              </a:ext>
            </a:extLst>
          </p:cNvPr>
          <p:cNvSpPr txBox="1"/>
          <p:nvPr/>
        </p:nvSpPr>
        <p:spPr>
          <a:xfrm>
            <a:off x="6494780" y="1902227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fr-FR" b="1" dirty="0"/>
          </a:p>
          <a:p>
            <a:pPr algn="ctr"/>
            <a:r>
              <a:rPr lang="fr-FR" u="sng" dirty="0" err="1"/>
              <a:t>Climbing</a:t>
            </a:r>
            <a:r>
              <a:rPr lang="fr-FR" u="sng" dirty="0"/>
              <a:t> the </a:t>
            </a:r>
            <a:r>
              <a:rPr lang="fr-FR" u="sng" dirty="0" err="1"/>
              <a:t>whole</a:t>
            </a:r>
            <a:r>
              <a:rPr lang="fr-FR" u="sng" dirty="0"/>
              <a:t> </a:t>
            </a:r>
            <a:r>
              <a:rPr lang="fr-FR" u="sng" dirty="0" err="1"/>
              <a:t>spectrum</a:t>
            </a:r>
            <a:endParaRPr lang="fr-FR" u="sng" dirty="0"/>
          </a:p>
          <a:p>
            <a:pPr algn="ctr"/>
            <a:endParaRPr lang="fr-FR" dirty="0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BE325921-3CF1-EB93-879B-28C57529035B}"/>
              </a:ext>
            </a:extLst>
          </p:cNvPr>
          <p:cNvSpPr/>
          <p:nvPr/>
        </p:nvSpPr>
        <p:spPr>
          <a:xfrm>
            <a:off x="7396255" y="2538676"/>
            <a:ext cx="119062" cy="119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FA6DC3EE-C482-9954-72C6-109423BEBB0E}"/>
              </a:ext>
            </a:extLst>
          </p:cNvPr>
          <p:cNvSpPr/>
          <p:nvPr/>
        </p:nvSpPr>
        <p:spPr>
          <a:xfrm>
            <a:off x="7404398" y="4307299"/>
            <a:ext cx="119062" cy="119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C744F72-8223-D5DE-9A7B-B6652D3EAAAD}"/>
              </a:ext>
            </a:extLst>
          </p:cNvPr>
          <p:cNvSpPr txBox="1"/>
          <p:nvPr/>
        </p:nvSpPr>
        <p:spPr>
          <a:xfrm>
            <a:off x="6472766" y="321957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fr-FR" b="1" dirty="0"/>
          </a:p>
          <a:p>
            <a:pPr algn="ctr"/>
            <a:r>
              <a:rPr lang="fr-FR" u="sng" dirty="0" err="1"/>
              <a:t>Discarding</a:t>
            </a:r>
            <a:r>
              <a:rPr lang="fr-FR" u="sng" dirty="0"/>
              <a:t> </a:t>
            </a:r>
            <a:r>
              <a:rPr lang="fr-FR" u="sng" dirty="0" err="1"/>
              <a:t>previous</a:t>
            </a:r>
            <a:r>
              <a:rPr lang="fr-FR" u="sng" dirty="0"/>
              <a:t> information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7D3E368F-87F3-E8AB-136D-593DF23401F2}"/>
              </a:ext>
            </a:extLst>
          </p:cNvPr>
          <p:cNvSpPr/>
          <p:nvPr/>
        </p:nvSpPr>
        <p:spPr>
          <a:xfrm>
            <a:off x="1683670" y="1821543"/>
            <a:ext cx="290286" cy="334554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297DA56-25A1-46E7-DA47-D4E107F1FC8E}"/>
              </a:ext>
            </a:extLst>
          </p:cNvPr>
          <p:cNvSpPr/>
          <p:nvPr/>
        </p:nvSpPr>
        <p:spPr>
          <a:xfrm>
            <a:off x="2257573" y="1821542"/>
            <a:ext cx="290286" cy="334554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4D85253-FAE5-2A12-59E0-16BE041523E2}"/>
              </a:ext>
            </a:extLst>
          </p:cNvPr>
          <p:cNvSpPr txBox="1"/>
          <p:nvPr/>
        </p:nvSpPr>
        <p:spPr>
          <a:xfrm>
            <a:off x="537629" y="5406758"/>
            <a:ext cx="20102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 err="1">
                <a:solidFill>
                  <a:srgbClr val="FF0000"/>
                </a:solidFill>
              </a:rPr>
              <a:t>Previous</a:t>
            </a:r>
            <a:r>
              <a:rPr lang="fr-FR" sz="1600" dirty="0">
                <a:solidFill>
                  <a:srgbClr val="FF0000"/>
                </a:solidFill>
              </a:rPr>
              <a:t> computation</a:t>
            </a:r>
            <a:endParaRPr lang="en-GB" sz="1600" dirty="0">
              <a:solidFill>
                <a:srgbClr val="FF0000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49C336A-D31E-1A77-7EBF-62CBFDBFD280}"/>
              </a:ext>
            </a:extLst>
          </p:cNvPr>
          <p:cNvSpPr txBox="1"/>
          <p:nvPr/>
        </p:nvSpPr>
        <p:spPr>
          <a:xfrm>
            <a:off x="1663350" y="5406758"/>
            <a:ext cx="20102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FF0000"/>
                </a:solidFill>
              </a:rPr>
              <a:t>Next </a:t>
            </a:r>
          </a:p>
          <a:p>
            <a:pPr algn="ctr"/>
            <a:r>
              <a:rPr lang="fr-FR" sz="1600" dirty="0">
                <a:solidFill>
                  <a:srgbClr val="FF0000"/>
                </a:solidFill>
              </a:rPr>
              <a:t>one</a:t>
            </a:r>
            <a:endParaRPr lang="en-GB" sz="1600" dirty="0">
              <a:solidFill>
                <a:srgbClr val="FF0000"/>
              </a:solidFill>
            </a:endParaRPr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8DEC618C-EA56-4E2B-7F27-B5D0F7CF0A4A}"/>
              </a:ext>
            </a:extLst>
          </p:cNvPr>
          <p:cNvSpPr/>
          <p:nvPr/>
        </p:nvSpPr>
        <p:spPr>
          <a:xfrm rot="5048221">
            <a:off x="2051957" y="5148124"/>
            <a:ext cx="144462" cy="517264"/>
          </a:xfrm>
          <a:custGeom>
            <a:avLst/>
            <a:gdLst>
              <a:gd name="csX0" fmla="*/ 0 w 298072"/>
              <a:gd name="csY0" fmla="*/ 580571 h 580571"/>
              <a:gd name="csX1" fmla="*/ 297543 w 298072"/>
              <a:gd name="csY1" fmla="*/ 312057 h 580571"/>
              <a:gd name="csX2" fmla="*/ 58057 w 298072"/>
              <a:gd name="csY2" fmla="*/ 0 h 5805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8072" h="580571">
                <a:moveTo>
                  <a:pt x="0" y="580571"/>
                </a:moveTo>
                <a:cubicBezTo>
                  <a:pt x="143933" y="494695"/>
                  <a:pt x="287867" y="408819"/>
                  <a:pt x="297543" y="312057"/>
                </a:cubicBezTo>
                <a:cubicBezTo>
                  <a:pt x="307219" y="215295"/>
                  <a:pt x="182638" y="107647"/>
                  <a:pt x="58057" y="0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FF0000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0950FBC-A676-8A72-07D9-49050E48C9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0929" y="4026646"/>
            <a:ext cx="2893911" cy="267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F6ADCD13-90F5-0347-A809-B8F1E76EED51}"/>
                  </a:ext>
                </a:extLst>
              </p:cNvPr>
              <p:cNvSpPr txBox="1"/>
              <p:nvPr/>
            </p:nvSpPr>
            <p:spPr>
              <a:xfrm>
                <a:off x="6494780" y="2593506"/>
                <a:ext cx="637902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fr-FR" dirty="0"/>
                  <a:t>To have n-th state : </a:t>
                </a:r>
                <a:r>
                  <a:rPr lang="fr-FR" dirty="0" err="1"/>
                  <a:t>compute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⟦"/>
                        <m:endChr m:val="⟧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F6ADCD13-90F5-0347-A809-B8F1E76EED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4780" y="2593506"/>
                <a:ext cx="6379028" cy="369332"/>
              </a:xfrm>
              <a:prstGeom prst="rect">
                <a:avLst/>
              </a:prstGeom>
              <a:blipFill>
                <a:blip r:embed="rId4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60" name="Picture 12">
            <a:extLst>
              <a:ext uri="{FF2B5EF4-FFF2-40B4-BE49-F238E27FC236}">
                <a16:creationId xmlns:a16="http://schemas.microsoft.com/office/drawing/2014/main" id="{6739CFEF-CC42-23AB-C2A6-AC063F4B35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0929" y="4495603"/>
            <a:ext cx="3532424" cy="336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BCED8EA3-55E2-5FAA-16B8-85732B765B02}"/>
              </a:ext>
            </a:extLst>
          </p:cNvPr>
          <p:cNvSpPr/>
          <p:nvPr/>
        </p:nvSpPr>
        <p:spPr>
          <a:xfrm rot="10800000">
            <a:off x="7770627" y="4122633"/>
            <a:ext cx="181345" cy="567417"/>
          </a:xfrm>
          <a:custGeom>
            <a:avLst/>
            <a:gdLst>
              <a:gd name="csX0" fmla="*/ 0 w 298072"/>
              <a:gd name="csY0" fmla="*/ 580571 h 580571"/>
              <a:gd name="csX1" fmla="*/ 297543 w 298072"/>
              <a:gd name="csY1" fmla="*/ 312057 h 580571"/>
              <a:gd name="csX2" fmla="*/ 58057 w 298072"/>
              <a:gd name="csY2" fmla="*/ 0 h 5805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8072" h="580571">
                <a:moveTo>
                  <a:pt x="0" y="580571"/>
                </a:moveTo>
                <a:cubicBezTo>
                  <a:pt x="143933" y="494695"/>
                  <a:pt x="287867" y="408819"/>
                  <a:pt x="297543" y="312057"/>
                </a:cubicBezTo>
                <a:cubicBezTo>
                  <a:pt x="307219" y="215295"/>
                  <a:pt x="182638" y="107647"/>
                  <a:pt x="58057" y="0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FF0000"/>
              </a:solidFill>
            </a:endParaRPr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799840A0-4D84-02CE-CBE6-EB84CD716E4C}"/>
              </a:ext>
            </a:extLst>
          </p:cNvPr>
          <p:cNvCxnSpPr>
            <a:stCxn id="2050" idx="1"/>
            <a:endCxn id="2050" idx="3"/>
          </p:cNvCxnSpPr>
          <p:nvPr/>
        </p:nvCxnSpPr>
        <p:spPr>
          <a:xfrm>
            <a:off x="8090929" y="4160414"/>
            <a:ext cx="289391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ZoneTexte 12">
            <a:extLst>
              <a:ext uri="{FF2B5EF4-FFF2-40B4-BE49-F238E27FC236}">
                <a16:creationId xmlns:a16="http://schemas.microsoft.com/office/drawing/2014/main" id="{3C237853-EDAE-E42D-BC33-ABB4B96B6D26}"/>
              </a:ext>
            </a:extLst>
          </p:cNvPr>
          <p:cNvSpPr txBox="1"/>
          <p:nvPr/>
        </p:nvSpPr>
        <p:spPr>
          <a:xfrm>
            <a:off x="7344972" y="5726464"/>
            <a:ext cx="618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But</a:t>
            </a:r>
            <a:endParaRPr lang="en-GB" dirty="0"/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D4386BE2-089C-E7D0-2585-E411F2631C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0929" y="5292360"/>
            <a:ext cx="3574393" cy="1237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5124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AEA0E-71EF-E7A9-7E1A-95BCA64C0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B75D4ACB-9BB4-1324-4C72-9929B7689366}"/>
              </a:ext>
            </a:extLst>
          </p:cNvPr>
          <p:cNvSpPr>
            <a:spLocks noGrp="1"/>
          </p:cNvSpPr>
          <p:nvPr/>
        </p:nvSpPr>
        <p:spPr>
          <a:xfrm>
            <a:off x="851165" y="59268"/>
            <a:ext cx="10167937" cy="11795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Avenir Next LT Pro" panose="020B0504020202020204" pitchFamily="34" charset="0"/>
              </a:rPr>
              <a:t>The idea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5588CDD-8D90-94B5-A969-ABC8924A2E4F}"/>
              </a:ext>
            </a:extLst>
          </p:cNvPr>
          <p:cNvSpPr/>
          <p:nvPr/>
        </p:nvSpPr>
        <p:spPr>
          <a:xfrm>
            <a:off x="520514" y="407430"/>
            <a:ext cx="207619" cy="464685"/>
          </a:xfrm>
          <a:prstGeom prst="rect">
            <a:avLst/>
          </a:prstGeom>
          <a:solidFill>
            <a:srgbClr val="F5A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E683466-74CC-B994-A904-1D1B17FD6D25}"/>
              </a:ext>
            </a:extLst>
          </p:cNvPr>
          <p:cNvSpPr txBox="1"/>
          <p:nvPr/>
        </p:nvSpPr>
        <p:spPr>
          <a:xfrm>
            <a:off x="8663140" y="849653"/>
            <a:ext cx="2328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 err="1">
                <a:solidFill>
                  <a:srgbClr val="9AD93A"/>
                </a:solidFill>
              </a:rPr>
              <a:t>Aimed</a:t>
            </a:r>
            <a:r>
              <a:rPr lang="fr-FR" sz="2000" dirty="0">
                <a:solidFill>
                  <a:srgbClr val="9AD93A"/>
                </a:solidFill>
              </a:rPr>
              <a:t> </a:t>
            </a:r>
            <a:r>
              <a:rPr lang="fr-FR" sz="2000" dirty="0" err="1">
                <a:solidFill>
                  <a:srgbClr val="9AD93A"/>
                </a:solidFill>
              </a:rPr>
              <a:t>energy</a:t>
            </a:r>
            <a:r>
              <a:rPr lang="fr-FR" sz="2000" dirty="0">
                <a:solidFill>
                  <a:srgbClr val="9AD93A"/>
                </a:solidFill>
              </a:rPr>
              <a:t> </a:t>
            </a:r>
            <a:r>
              <a:rPr lang="fr-FR" sz="2000" dirty="0" err="1">
                <a:solidFill>
                  <a:srgbClr val="9AD93A"/>
                </a:solidFill>
              </a:rPr>
              <a:t>level</a:t>
            </a:r>
            <a:endParaRPr lang="en-GB" sz="2000" dirty="0">
              <a:solidFill>
                <a:srgbClr val="9AD93A"/>
              </a:solidFill>
            </a:endParaRPr>
          </a:p>
        </p:txBody>
      </p:sp>
      <p:pic>
        <p:nvPicPr>
          <p:cNvPr id="10" name="Image 9" descr="Une image contenant texte, ligne, Tracé, diagramme&#10;&#10;Le contenu généré par l’IA peut être incorrect.">
            <a:extLst>
              <a:ext uri="{FF2B5EF4-FFF2-40B4-BE49-F238E27FC236}">
                <a16:creationId xmlns:a16="http://schemas.microsoft.com/office/drawing/2014/main" id="{4A7E05FF-29B6-AE2C-D45F-1CD3870FBF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314" y="1586580"/>
            <a:ext cx="7634751" cy="4531719"/>
          </a:xfrm>
          <a:prstGeom prst="rect">
            <a:avLst/>
          </a:prstGeom>
        </p:spPr>
      </p:pic>
      <p:sp>
        <p:nvSpPr>
          <p:cNvPr id="8" name="Ellipse 7">
            <a:extLst>
              <a:ext uri="{FF2B5EF4-FFF2-40B4-BE49-F238E27FC236}">
                <a16:creationId xmlns:a16="http://schemas.microsoft.com/office/drawing/2014/main" id="{9861D461-A214-0459-816B-366257AFC542}"/>
              </a:ext>
            </a:extLst>
          </p:cNvPr>
          <p:cNvSpPr/>
          <p:nvPr/>
        </p:nvSpPr>
        <p:spPr>
          <a:xfrm>
            <a:off x="1220259" y="1929878"/>
            <a:ext cx="237066" cy="226086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F8A31D09-F20E-1412-EABF-1612F34E4109}"/>
              </a:ext>
            </a:extLst>
          </p:cNvPr>
          <p:cNvCxnSpPr>
            <a:cxnSpLocks/>
          </p:cNvCxnSpPr>
          <p:nvPr/>
        </p:nvCxnSpPr>
        <p:spPr>
          <a:xfrm flipH="1">
            <a:off x="8028065" y="1201382"/>
            <a:ext cx="520600" cy="525815"/>
          </a:xfrm>
          <a:prstGeom prst="straightConnector1">
            <a:avLst/>
          </a:prstGeom>
          <a:ln>
            <a:solidFill>
              <a:srgbClr val="9AD9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ZoneTexte 10">
            <a:extLst>
              <a:ext uri="{FF2B5EF4-FFF2-40B4-BE49-F238E27FC236}">
                <a16:creationId xmlns:a16="http://schemas.microsoft.com/office/drawing/2014/main" id="{555A6D93-C341-3FE7-C261-F0FD029DEFD3}"/>
              </a:ext>
            </a:extLst>
          </p:cNvPr>
          <p:cNvSpPr txBox="1"/>
          <p:nvPr/>
        </p:nvSpPr>
        <p:spPr>
          <a:xfrm>
            <a:off x="1066800" y="2224098"/>
            <a:ext cx="977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>
                <a:solidFill>
                  <a:srgbClr val="FF0000"/>
                </a:solidFill>
              </a:rPr>
              <a:t>Starting</a:t>
            </a:r>
            <a:r>
              <a:rPr lang="fr-FR" dirty="0">
                <a:solidFill>
                  <a:srgbClr val="FF0000"/>
                </a:solidFill>
              </a:rPr>
              <a:t> point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D06C75E9-4553-426F-CC5A-6F0796D0C6F0}"/>
              </a:ext>
            </a:extLst>
          </p:cNvPr>
          <p:cNvSpPr/>
          <p:nvPr/>
        </p:nvSpPr>
        <p:spPr>
          <a:xfrm rot="5212983">
            <a:off x="2808101" y="847007"/>
            <a:ext cx="181345" cy="2686050"/>
          </a:xfrm>
          <a:custGeom>
            <a:avLst/>
            <a:gdLst>
              <a:gd name="csX0" fmla="*/ 0 w 298072"/>
              <a:gd name="csY0" fmla="*/ 580571 h 580571"/>
              <a:gd name="csX1" fmla="*/ 297543 w 298072"/>
              <a:gd name="csY1" fmla="*/ 312057 h 580571"/>
              <a:gd name="csX2" fmla="*/ 58057 w 298072"/>
              <a:gd name="csY2" fmla="*/ 0 h 5805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8072" h="580571">
                <a:moveTo>
                  <a:pt x="0" y="580571"/>
                </a:moveTo>
                <a:cubicBezTo>
                  <a:pt x="143933" y="494695"/>
                  <a:pt x="287867" y="408819"/>
                  <a:pt x="297543" y="312057"/>
                </a:cubicBezTo>
                <a:cubicBezTo>
                  <a:pt x="307219" y="215295"/>
                  <a:pt x="182638" y="107647"/>
                  <a:pt x="58057" y="0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135CE053-992D-E3A5-22BC-A8B34CCCAD90}"/>
              </a:ext>
            </a:extLst>
          </p:cNvPr>
          <p:cNvSpPr/>
          <p:nvPr/>
        </p:nvSpPr>
        <p:spPr>
          <a:xfrm rot="5212983">
            <a:off x="5843400" y="781189"/>
            <a:ext cx="181345" cy="2686050"/>
          </a:xfrm>
          <a:custGeom>
            <a:avLst/>
            <a:gdLst>
              <a:gd name="csX0" fmla="*/ 0 w 298072"/>
              <a:gd name="csY0" fmla="*/ 580571 h 580571"/>
              <a:gd name="csX1" fmla="*/ 297543 w 298072"/>
              <a:gd name="csY1" fmla="*/ 312057 h 580571"/>
              <a:gd name="csX2" fmla="*/ 58057 w 298072"/>
              <a:gd name="csY2" fmla="*/ 0 h 5805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8072" h="580571">
                <a:moveTo>
                  <a:pt x="0" y="580571"/>
                </a:moveTo>
                <a:cubicBezTo>
                  <a:pt x="143933" y="494695"/>
                  <a:pt x="287867" y="408819"/>
                  <a:pt x="297543" y="312057"/>
                </a:cubicBezTo>
                <a:cubicBezTo>
                  <a:pt x="307219" y="215295"/>
                  <a:pt x="182638" y="107647"/>
                  <a:pt x="58057" y="0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8F737CE9-0A24-D332-691A-E58EC0426100}"/>
              </a:ext>
            </a:extLst>
          </p:cNvPr>
          <p:cNvSpPr txBox="1"/>
          <p:nvPr/>
        </p:nvSpPr>
        <p:spPr>
          <a:xfrm>
            <a:off x="1552805" y="230871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 err="1">
                <a:solidFill>
                  <a:srgbClr val="FF0000"/>
                </a:solidFill>
              </a:rPr>
              <a:t>Computing</a:t>
            </a:r>
            <a:r>
              <a:rPr lang="fr-FR" dirty="0">
                <a:solidFill>
                  <a:srgbClr val="FF0000"/>
                </a:solidFill>
              </a:rPr>
              <a:t> </a:t>
            </a:r>
            <a:r>
              <a:rPr lang="fr-FR" dirty="0" err="1">
                <a:solidFill>
                  <a:srgbClr val="FF0000"/>
                </a:solidFill>
              </a:rPr>
              <a:t>iteratively</a:t>
            </a:r>
            <a:r>
              <a:rPr lang="fr-FR" dirty="0">
                <a:solidFill>
                  <a:srgbClr val="FF0000"/>
                </a:solidFill>
              </a:rPr>
              <a:t> the new value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0DB285C9-BC67-0E1A-9FC5-EA57A941B954}"/>
              </a:ext>
            </a:extLst>
          </p:cNvPr>
          <p:cNvSpPr txBox="1"/>
          <p:nvPr/>
        </p:nvSpPr>
        <p:spPr>
          <a:xfrm>
            <a:off x="8390466" y="2369022"/>
            <a:ext cx="36322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200" u="sng" dirty="0" err="1"/>
              <a:t>Contrary</a:t>
            </a:r>
            <a:r>
              <a:rPr lang="fr-FR" sz="2200" u="sng" dirty="0"/>
              <a:t> to </a:t>
            </a:r>
            <a:r>
              <a:rPr lang="fr-FR" sz="2200" u="sng" dirty="0" err="1"/>
              <a:t>Lanczos</a:t>
            </a:r>
            <a:r>
              <a:rPr lang="fr-FR" sz="2200" u="sng" dirty="0"/>
              <a:t> :</a:t>
            </a:r>
            <a:endParaRPr lang="en-GB" sz="2200" u="sng" dirty="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47F369BE-87C3-3055-A839-96277ECF5C87}"/>
              </a:ext>
            </a:extLst>
          </p:cNvPr>
          <p:cNvSpPr/>
          <p:nvPr/>
        </p:nvSpPr>
        <p:spPr>
          <a:xfrm>
            <a:off x="8568834" y="4004266"/>
            <a:ext cx="119062" cy="119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52AC50EB-6F67-1F17-D64E-51D7C2724CD1}"/>
              </a:ext>
            </a:extLst>
          </p:cNvPr>
          <p:cNvSpPr txBox="1"/>
          <p:nvPr/>
        </p:nvSpPr>
        <p:spPr>
          <a:xfrm>
            <a:off x="8492634" y="3864656"/>
            <a:ext cx="363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/>
              <a:t>Following one single state</a:t>
            </a:r>
            <a:endParaRPr lang="en-GB" sz="2000" dirty="0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52FBD35C-BD11-5EF1-084E-BAB8C1A68DDB}"/>
              </a:ext>
            </a:extLst>
          </p:cNvPr>
          <p:cNvSpPr/>
          <p:nvPr/>
        </p:nvSpPr>
        <p:spPr>
          <a:xfrm>
            <a:off x="8568834" y="4698594"/>
            <a:ext cx="119062" cy="119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B735563E-BC53-BABE-F680-422480DA9D0A}"/>
              </a:ext>
            </a:extLst>
          </p:cNvPr>
          <p:cNvSpPr txBox="1"/>
          <p:nvPr/>
        </p:nvSpPr>
        <p:spPr>
          <a:xfrm>
            <a:off x="8492634" y="4533644"/>
            <a:ext cx="363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/>
              <a:t>Uses </a:t>
            </a:r>
            <a:r>
              <a:rPr lang="fr-FR" sz="2000" dirty="0" err="1"/>
              <a:t>previous</a:t>
            </a:r>
            <a:r>
              <a:rPr lang="fr-FR" sz="2000" dirty="0"/>
              <a:t> </a:t>
            </a:r>
            <a:r>
              <a:rPr lang="fr-FR" sz="2000" dirty="0" err="1"/>
              <a:t>result</a:t>
            </a:r>
            <a:endParaRPr lang="en-GB" sz="2000" dirty="0"/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2002258D-4294-7845-978C-CA42F1417940}"/>
              </a:ext>
            </a:extLst>
          </p:cNvPr>
          <p:cNvSpPr/>
          <p:nvPr/>
        </p:nvSpPr>
        <p:spPr>
          <a:xfrm>
            <a:off x="8568834" y="3309938"/>
            <a:ext cx="119062" cy="119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90942D95-990E-9C85-5F58-70EC96C09B21}"/>
              </a:ext>
            </a:extLst>
          </p:cNvPr>
          <p:cNvSpPr txBox="1"/>
          <p:nvPr/>
        </p:nvSpPr>
        <p:spPr>
          <a:xfrm>
            <a:off x="8501101" y="3144988"/>
            <a:ext cx="363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/>
              <a:t>Need a </a:t>
            </a:r>
            <a:r>
              <a:rPr lang="fr-FR" sz="2000" dirty="0" err="1"/>
              <a:t>starting</a:t>
            </a:r>
            <a:r>
              <a:rPr lang="fr-FR" sz="2000" dirty="0"/>
              <a:t> point</a:t>
            </a:r>
            <a:endParaRPr lang="en-GB" sz="2000" dirty="0"/>
          </a:p>
        </p:txBody>
      </p:sp>
      <p:sp>
        <p:nvSpPr>
          <p:cNvPr id="37" name="Forme libre : forme 36">
            <a:extLst>
              <a:ext uri="{FF2B5EF4-FFF2-40B4-BE49-F238E27FC236}">
                <a16:creationId xmlns:a16="http://schemas.microsoft.com/office/drawing/2014/main" id="{442D5542-3F7B-46E4-1A5D-8039EFAAB14B}"/>
              </a:ext>
            </a:extLst>
          </p:cNvPr>
          <p:cNvSpPr/>
          <p:nvPr/>
        </p:nvSpPr>
        <p:spPr>
          <a:xfrm rot="5212983">
            <a:off x="8047434" y="1464694"/>
            <a:ext cx="181345" cy="1259733"/>
          </a:xfrm>
          <a:custGeom>
            <a:avLst/>
            <a:gdLst>
              <a:gd name="csX0" fmla="*/ 0 w 298072"/>
              <a:gd name="csY0" fmla="*/ 580571 h 580571"/>
              <a:gd name="csX1" fmla="*/ 297543 w 298072"/>
              <a:gd name="csY1" fmla="*/ 312057 h 580571"/>
              <a:gd name="csX2" fmla="*/ 58057 w 298072"/>
              <a:gd name="csY2" fmla="*/ 0 h 5805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8072" h="580571">
                <a:moveTo>
                  <a:pt x="0" y="580571"/>
                </a:moveTo>
                <a:cubicBezTo>
                  <a:pt x="143933" y="494695"/>
                  <a:pt x="287867" y="408819"/>
                  <a:pt x="297543" y="312057"/>
                </a:cubicBezTo>
                <a:cubicBezTo>
                  <a:pt x="307219" y="215295"/>
                  <a:pt x="182638" y="107647"/>
                  <a:pt x="58057" y="0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61977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AC907-D91C-58EA-98C6-69AA97ADE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F9107D2F-56DA-8D1F-D03F-2A7E69178663}"/>
              </a:ext>
            </a:extLst>
          </p:cNvPr>
          <p:cNvSpPr>
            <a:spLocks noGrp="1"/>
          </p:cNvSpPr>
          <p:nvPr/>
        </p:nvSpPr>
        <p:spPr>
          <a:xfrm>
            <a:off x="851165" y="59268"/>
            <a:ext cx="11148461" cy="11795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Avenir Next LT Pro" panose="020B0504020202020204" pitchFamily="34" charset="0"/>
              </a:rPr>
              <a:t>The power algorithm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FE5C138-5F27-6A0B-E825-1175F2245EB3}"/>
              </a:ext>
            </a:extLst>
          </p:cNvPr>
          <p:cNvSpPr/>
          <p:nvPr/>
        </p:nvSpPr>
        <p:spPr>
          <a:xfrm>
            <a:off x="520514" y="407430"/>
            <a:ext cx="207619" cy="464685"/>
          </a:xfrm>
          <a:prstGeom prst="rect">
            <a:avLst/>
          </a:prstGeom>
          <a:solidFill>
            <a:srgbClr val="F5A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96ED5EA-D5AE-5507-31AF-B01AEF233694}"/>
              </a:ext>
            </a:extLst>
          </p:cNvPr>
          <p:cNvSpPr txBox="1"/>
          <p:nvPr/>
        </p:nvSpPr>
        <p:spPr>
          <a:xfrm>
            <a:off x="4238324" y="1238781"/>
            <a:ext cx="37153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GB" sz="2200" u="sng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2F226922-61C4-7E97-8632-DBFB8FA71B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133" y="1970202"/>
            <a:ext cx="10862733" cy="2214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188C674C-83BA-D8DB-FA84-7B404504B6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1723" y="4734487"/>
            <a:ext cx="5228554" cy="364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378180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57C7C-4020-9D68-4B66-587D8281E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7E10E626-4138-B339-4E55-47EF6BDAB931}"/>
              </a:ext>
            </a:extLst>
          </p:cNvPr>
          <p:cNvSpPr>
            <a:spLocks noGrp="1"/>
          </p:cNvSpPr>
          <p:nvPr/>
        </p:nvSpPr>
        <p:spPr>
          <a:xfrm>
            <a:off x="851165" y="59268"/>
            <a:ext cx="11148461" cy="11795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Avenir Next LT Pro" panose="020B0504020202020204" pitchFamily="34" charset="0"/>
              </a:rPr>
              <a:t>Shift Invert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EE9454A-F7F4-5F14-958D-177C1756FEC2}"/>
              </a:ext>
            </a:extLst>
          </p:cNvPr>
          <p:cNvSpPr/>
          <p:nvPr/>
        </p:nvSpPr>
        <p:spPr>
          <a:xfrm>
            <a:off x="520514" y="407430"/>
            <a:ext cx="207619" cy="464685"/>
          </a:xfrm>
          <a:prstGeom prst="rect">
            <a:avLst/>
          </a:prstGeom>
          <a:solidFill>
            <a:srgbClr val="F5A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BA720B30-4AA7-4865-BA88-015FDD916247}"/>
              </a:ext>
            </a:extLst>
          </p:cNvPr>
          <p:cNvGrpSpPr/>
          <p:nvPr/>
        </p:nvGrpSpPr>
        <p:grpSpPr>
          <a:xfrm>
            <a:off x="676467" y="1355141"/>
            <a:ext cx="10839066" cy="728492"/>
            <a:chOff x="851165" y="1355141"/>
            <a:chExt cx="10139124" cy="681449"/>
          </a:xfrm>
        </p:grpSpPr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26A828CD-E1B7-4894-D9BB-EED15D0206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77329" y="1355141"/>
              <a:ext cx="5012960" cy="6814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6" name="Picture 8">
              <a:extLst>
                <a:ext uri="{FF2B5EF4-FFF2-40B4-BE49-F238E27FC236}">
                  <a16:creationId xmlns:a16="http://schemas.microsoft.com/office/drawing/2014/main" id="{6A12FEBA-AEDB-28F0-E4D7-78AED12CC0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851165" y="1416198"/>
              <a:ext cx="4760286" cy="5593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" name="Ellipse 6">
            <a:extLst>
              <a:ext uri="{FF2B5EF4-FFF2-40B4-BE49-F238E27FC236}">
                <a16:creationId xmlns:a16="http://schemas.microsoft.com/office/drawing/2014/main" id="{6D414C7B-AC99-98C6-CF3F-7C18A87356AA}"/>
              </a:ext>
            </a:extLst>
          </p:cNvPr>
          <p:cNvSpPr/>
          <p:nvPr/>
        </p:nvSpPr>
        <p:spPr>
          <a:xfrm>
            <a:off x="361838" y="1659855"/>
            <a:ext cx="119062" cy="119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89289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B4B14-036F-0E87-808B-666B608C6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0C6FE25E-7027-BE73-CEEF-19F3FCEDCCFC}"/>
              </a:ext>
            </a:extLst>
          </p:cNvPr>
          <p:cNvSpPr>
            <a:spLocks noGrp="1"/>
          </p:cNvSpPr>
          <p:nvPr/>
        </p:nvSpPr>
        <p:spPr>
          <a:xfrm>
            <a:off x="851165" y="59268"/>
            <a:ext cx="11148461" cy="11795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Avenir Next LT Pro" panose="020B0504020202020204" pitchFamily="34" charset="0"/>
              </a:rPr>
              <a:t>Shift Invert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42D35FD-4911-3E84-6193-E3DABD78F324}"/>
              </a:ext>
            </a:extLst>
          </p:cNvPr>
          <p:cNvSpPr/>
          <p:nvPr/>
        </p:nvSpPr>
        <p:spPr>
          <a:xfrm>
            <a:off x="520514" y="407430"/>
            <a:ext cx="207619" cy="464685"/>
          </a:xfrm>
          <a:prstGeom prst="rect">
            <a:avLst/>
          </a:prstGeom>
          <a:solidFill>
            <a:srgbClr val="F5A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BF2BABFB-56B6-C41C-9D4F-2652E98C72ED}"/>
              </a:ext>
            </a:extLst>
          </p:cNvPr>
          <p:cNvGrpSpPr/>
          <p:nvPr/>
        </p:nvGrpSpPr>
        <p:grpSpPr>
          <a:xfrm>
            <a:off x="676467" y="1355141"/>
            <a:ext cx="10839066" cy="728492"/>
            <a:chOff x="851165" y="1355141"/>
            <a:chExt cx="10139124" cy="681449"/>
          </a:xfrm>
        </p:grpSpPr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F81728F4-8ABA-B083-EC20-7B3BBAD870F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77329" y="1355141"/>
              <a:ext cx="5012960" cy="6814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6" name="Picture 8">
              <a:extLst>
                <a:ext uri="{FF2B5EF4-FFF2-40B4-BE49-F238E27FC236}">
                  <a16:creationId xmlns:a16="http://schemas.microsoft.com/office/drawing/2014/main" id="{310772D6-A6CD-6625-DDF3-C9F35646B4B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851165" y="1416198"/>
              <a:ext cx="4760286" cy="5593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" name="Ellipse 6">
            <a:extLst>
              <a:ext uri="{FF2B5EF4-FFF2-40B4-BE49-F238E27FC236}">
                <a16:creationId xmlns:a16="http://schemas.microsoft.com/office/drawing/2014/main" id="{8C17CA10-A25B-B867-D259-EF66E26DD49D}"/>
              </a:ext>
            </a:extLst>
          </p:cNvPr>
          <p:cNvSpPr/>
          <p:nvPr/>
        </p:nvSpPr>
        <p:spPr>
          <a:xfrm>
            <a:off x="361838" y="1659855"/>
            <a:ext cx="119062" cy="119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FB65FF66-9303-E5FE-A9AB-2E4E8278F34F}"/>
              </a:ext>
            </a:extLst>
          </p:cNvPr>
          <p:cNvSpPr/>
          <p:nvPr/>
        </p:nvSpPr>
        <p:spPr>
          <a:xfrm>
            <a:off x="361838" y="2463459"/>
            <a:ext cx="119062" cy="119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64" name="Picture 16">
            <a:extLst>
              <a:ext uri="{FF2B5EF4-FFF2-40B4-BE49-F238E27FC236}">
                <a16:creationId xmlns:a16="http://schemas.microsoft.com/office/drawing/2014/main" id="{4B030563-DA8A-AB63-69A0-F19F65697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467" y="2157253"/>
            <a:ext cx="5470022" cy="731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Ellipse 8">
            <a:extLst>
              <a:ext uri="{FF2B5EF4-FFF2-40B4-BE49-F238E27FC236}">
                <a16:creationId xmlns:a16="http://schemas.microsoft.com/office/drawing/2014/main" id="{ED6414FE-FCA8-EDED-54DC-74D6CBA04D3F}"/>
              </a:ext>
            </a:extLst>
          </p:cNvPr>
          <p:cNvSpPr/>
          <p:nvPr/>
        </p:nvSpPr>
        <p:spPr>
          <a:xfrm>
            <a:off x="361838" y="3451367"/>
            <a:ext cx="108327" cy="10832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66" name="Picture 18">
            <a:extLst>
              <a:ext uri="{FF2B5EF4-FFF2-40B4-BE49-F238E27FC236}">
                <a16:creationId xmlns:a16="http://schemas.microsoft.com/office/drawing/2014/main" id="{8061CF06-1508-6B71-32AD-32290F53D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76467" y="3210100"/>
            <a:ext cx="11092721" cy="48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70453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A0021-7AE1-164B-BB2B-4DC9C2C62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558007C8-EE3D-28AD-0FA6-3BAD3DEF972F}"/>
              </a:ext>
            </a:extLst>
          </p:cNvPr>
          <p:cNvSpPr>
            <a:spLocks noGrp="1"/>
          </p:cNvSpPr>
          <p:nvPr/>
        </p:nvSpPr>
        <p:spPr>
          <a:xfrm>
            <a:off x="851165" y="59268"/>
            <a:ext cx="11148461" cy="11795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Avenir Next LT Pro" panose="020B0504020202020204" pitchFamily="34" charset="0"/>
              </a:rPr>
              <a:t>Shift Invert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83792B-2411-02A6-316B-8106E832BC4B}"/>
              </a:ext>
            </a:extLst>
          </p:cNvPr>
          <p:cNvSpPr/>
          <p:nvPr/>
        </p:nvSpPr>
        <p:spPr>
          <a:xfrm>
            <a:off x="520514" y="407430"/>
            <a:ext cx="207619" cy="464685"/>
          </a:xfrm>
          <a:prstGeom prst="rect">
            <a:avLst/>
          </a:prstGeom>
          <a:solidFill>
            <a:srgbClr val="F5A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8648DB0B-B53B-3C69-7E4A-3B57D7511383}"/>
              </a:ext>
            </a:extLst>
          </p:cNvPr>
          <p:cNvGrpSpPr/>
          <p:nvPr/>
        </p:nvGrpSpPr>
        <p:grpSpPr>
          <a:xfrm>
            <a:off x="676467" y="1355141"/>
            <a:ext cx="10839066" cy="728492"/>
            <a:chOff x="851165" y="1355141"/>
            <a:chExt cx="10139124" cy="681449"/>
          </a:xfrm>
        </p:grpSpPr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8E88C0A0-3CEC-1A73-8590-A1838BEA75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77329" y="1355141"/>
              <a:ext cx="5012960" cy="6814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6" name="Picture 8">
              <a:extLst>
                <a:ext uri="{FF2B5EF4-FFF2-40B4-BE49-F238E27FC236}">
                  <a16:creationId xmlns:a16="http://schemas.microsoft.com/office/drawing/2014/main" id="{6B6B84CD-8D78-A5F8-F869-E0ACC122B7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851165" y="1416198"/>
              <a:ext cx="4760286" cy="5593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" name="Ellipse 6">
            <a:extLst>
              <a:ext uri="{FF2B5EF4-FFF2-40B4-BE49-F238E27FC236}">
                <a16:creationId xmlns:a16="http://schemas.microsoft.com/office/drawing/2014/main" id="{ADE66DA8-28A3-ECE7-A95A-E83F2696E30D}"/>
              </a:ext>
            </a:extLst>
          </p:cNvPr>
          <p:cNvSpPr/>
          <p:nvPr/>
        </p:nvSpPr>
        <p:spPr>
          <a:xfrm>
            <a:off x="361838" y="1659855"/>
            <a:ext cx="119062" cy="119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0EE77E69-8672-6E04-1DA8-8D88DA6CBC66}"/>
              </a:ext>
            </a:extLst>
          </p:cNvPr>
          <p:cNvSpPr/>
          <p:nvPr/>
        </p:nvSpPr>
        <p:spPr>
          <a:xfrm>
            <a:off x="361838" y="2463459"/>
            <a:ext cx="119062" cy="119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64" name="Picture 16">
            <a:extLst>
              <a:ext uri="{FF2B5EF4-FFF2-40B4-BE49-F238E27FC236}">
                <a16:creationId xmlns:a16="http://schemas.microsoft.com/office/drawing/2014/main" id="{F5F64849-56C9-A89C-5109-E0C2F9B3E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467" y="2157253"/>
            <a:ext cx="5470022" cy="731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Ellipse 8">
            <a:extLst>
              <a:ext uri="{FF2B5EF4-FFF2-40B4-BE49-F238E27FC236}">
                <a16:creationId xmlns:a16="http://schemas.microsoft.com/office/drawing/2014/main" id="{53799567-FA73-3822-9520-C68968847BAE}"/>
              </a:ext>
            </a:extLst>
          </p:cNvPr>
          <p:cNvSpPr/>
          <p:nvPr/>
        </p:nvSpPr>
        <p:spPr>
          <a:xfrm>
            <a:off x="361838" y="3451367"/>
            <a:ext cx="108327" cy="10832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66" name="Picture 18">
            <a:extLst>
              <a:ext uri="{FF2B5EF4-FFF2-40B4-BE49-F238E27FC236}">
                <a16:creationId xmlns:a16="http://schemas.microsoft.com/office/drawing/2014/main" id="{C9081DDD-DB9A-9FF1-DCB0-6BA81F167F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76467" y="3210100"/>
            <a:ext cx="11092721" cy="48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Ellipse 9">
            <a:extLst>
              <a:ext uri="{FF2B5EF4-FFF2-40B4-BE49-F238E27FC236}">
                <a16:creationId xmlns:a16="http://schemas.microsoft.com/office/drawing/2014/main" id="{83D10877-129C-2FCA-D37E-2292EE432A4F}"/>
              </a:ext>
            </a:extLst>
          </p:cNvPr>
          <p:cNvSpPr/>
          <p:nvPr/>
        </p:nvSpPr>
        <p:spPr>
          <a:xfrm>
            <a:off x="361837" y="4428540"/>
            <a:ext cx="108327" cy="10832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72" name="Picture 24">
            <a:extLst>
              <a:ext uri="{FF2B5EF4-FFF2-40B4-BE49-F238E27FC236}">
                <a16:creationId xmlns:a16="http://schemas.microsoft.com/office/drawing/2014/main" id="{C65EF8C2-69FE-EB50-A234-5B6F3E1643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467" y="4233116"/>
            <a:ext cx="9059644" cy="131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04683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19890-BA51-6F78-4E0D-E756200BF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9F6C40E0-C505-6FF5-B22D-868B959A4B1C}"/>
              </a:ext>
            </a:extLst>
          </p:cNvPr>
          <p:cNvSpPr>
            <a:spLocks noGrp="1"/>
          </p:cNvSpPr>
          <p:nvPr/>
        </p:nvSpPr>
        <p:spPr>
          <a:xfrm>
            <a:off x="851165" y="59268"/>
            <a:ext cx="11148461" cy="11795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Avenir Next LT Pro" panose="020B0504020202020204" pitchFamily="34" charset="0"/>
              </a:rPr>
              <a:t>Shift Invert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038BF-B9B0-6E65-B585-AAC03BDC6BC3}"/>
              </a:ext>
            </a:extLst>
          </p:cNvPr>
          <p:cNvSpPr/>
          <p:nvPr/>
        </p:nvSpPr>
        <p:spPr>
          <a:xfrm>
            <a:off x="520514" y="407430"/>
            <a:ext cx="207619" cy="464685"/>
          </a:xfrm>
          <a:prstGeom prst="rect">
            <a:avLst/>
          </a:prstGeom>
          <a:solidFill>
            <a:srgbClr val="F5A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7572BDC0-CBFD-6703-9B2D-500D27FF7851}"/>
              </a:ext>
            </a:extLst>
          </p:cNvPr>
          <p:cNvGrpSpPr/>
          <p:nvPr/>
        </p:nvGrpSpPr>
        <p:grpSpPr>
          <a:xfrm>
            <a:off x="676467" y="1355141"/>
            <a:ext cx="10839066" cy="728492"/>
            <a:chOff x="851165" y="1355141"/>
            <a:chExt cx="10139124" cy="681449"/>
          </a:xfrm>
        </p:grpSpPr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F79B55D8-A286-875B-832C-7AA66AF0770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77329" y="1355141"/>
              <a:ext cx="5012960" cy="6814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6" name="Picture 8">
              <a:extLst>
                <a:ext uri="{FF2B5EF4-FFF2-40B4-BE49-F238E27FC236}">
                  <a16:creationId xmlns:a16="http://schemas.microsoft.com/office/drawing/2014/main" id="{66D2B2FE-8F91-8ADC-D221-FBA210034F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851165" y="1416198"/>
              <a:ext cx="4760286" cy="5593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" name="Ellipse 6">
            <a:extLst>
              <a:ext uri="{FF2B5EF4-FFF2-40B4-BE49-F238E27FC236}">
                <a16:creationId xmlns:a16="http://schemas.microsoft.com/office/drawing/2014/main" id="{6A94BC53-AD81-0A1B-6A45-BD0928E9ED41}"/>
              </a:ext>
            </a:extLst>
          </p:cNvPr>
          <p:cNvSpPr/>
          <p:nvPr/>
        </p:nvSpPr>
        <p:spPr>
          <a:xfrm>
            <a:off x="361838" y="1659855"/>
            <a:ext cx="119062" cy="119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FFDCDE98-D657-3E21-D577-FF9E1AC6B180}"/>
              </a:ext>
            </a:extLst>
          </p:cNvPr>
          <p:cNvSpPr/>
          <p:nvPr/>
        </p:nvSpPr>
        <p:spPr>
          <a:xfrm>
            <a:off x="361838" y="2463459"/>
            <a:ext cx="119062" cy="1190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64" name="Picture 16">
            <a:extLst>
              <a:ext uri="{FF2B5EF4-FFF2-40B4-BE49-F238E27FC236}">
                <a16:creationId xmlns:a16="http://schemas.microsoft.com/office/drawing/2014/main" id="{9991E89D-27BA-3968-B97F-A710D2FF83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467" y="2157253"/>
            <a:ext cx="5470022" cy="731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Ellipse 8">
            <a:extLst>
              <a:ext uri="{FF2B5EF4-FFF2-40B4-BE49-F238E27FC236}">
                <a16:creationId xmlns:a16="http://schemas.microsoft.com/office/drawing/2014/main" id="{0E882D88-FE15-308A-C286-C883EEEA67C5}"/>
              </a:ext>
            </a:extLst>
          </p:cNvPr>
          <p:cNvSpPr/>
          <p:nvPr/>
        </p:nvSpPr>
        <p:spPr>
          <a:xfrm>
            <a:off x="361838" y="3451367"/>
            <a:ext cx="108327" cy="10832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66" name="Picture 18">
            <a:extLst>
              <a:ext uri="{FF2B5EF4-FFF2-40B4-BE49-F238E27FC236}">
                <a16:creationId xmlns:a16="http://schemas.microsoft.com/office/drawing/2014/main" id="{92B8ECE5-9321-8766-704D-238D011A06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76467" y="3210100"/>
            <a:ext cx="11092721" cy="48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Ellipse 9">
            <a:extLst>
              <a:ext uri="{FF2B5EF4-FFF2-40B4-BE49-F238E27FC236}">
                <a16:creationId xmlns:a16="http://schemas.microsoft.com/office/drawing/2014/main" id="{8DE0F3D3-EACF-D940-A358-65F2B4D7AEEB}"/>
              </a:ext>
            </a:extLst>
          </p:cNvPr>
          <p:cNvSpPr/>
          <p:nvPr/>
        </p:nvSpPr>
        <p:spPr>
          <a:xfrm>
            <a:off x="361837" y="4428540"/>
            <a:ext cx="108327" cy="10832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72" name="Picture 24">
            <a:extLst>
              <a:ext uri="{FF2B5EF4-FFF2-40B4-BE49-F238E27FC236}">
                <a16:creationId xmlns:a16="http://schemas.microsoft.com/office/drawing/2014/main" id="{EEE87657-4865-DB4D-9001-743FFFA83C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467" y="4233116"/>
            <a:ext cx="9059644" cy="131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8" name="Picture 30">
            <a:extLst>
              <a:ext uri="{FF2B5EF4-FFF2-40B4-BE49-F238E27FC236}">
                <a16:creationId xmlns:a16="http://schemas.microsoft.com/office/drawing/2014/main" id="{A5C4F040-8034-7592-84E1-4486AD3C59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467" y="5799316"/>
            <a:ext cx="8917238" cy="289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Ellipse 10">
            <a:extLst>
              <a:ext uri="{FF2B5EF4-FFF2-40B4-BE49-F238E27FC236}">
                <a16:creationId xmlns:a16="http://schemas.microsoft.com/office/drawing/2014/main" id="{6DE72E2E-212C-0A37-DFE8-80A20CDDB14B}"/>
              </a:ext>
            </a:extLst>
          </p:cNvPr>
          <p:cNvSpPr/>
          <p:nvPr/>
        </p:nvSpPr>
        <p:spPr>
          <a:xfrm>
            <a:off x="361836" y="5889708"/>
            <a:ext cx="108327" cy="10832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7364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0DCEF-E2E1-5A78-8B7A-E7FA83977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222DB79B-5A89-C80F-FA6E-C80DCD24FE00}"/>
              </a:ext>
            </a:extLst>
          </p:cNvPr>
          <p:cNvSpPr>
            <a:spLocks noGrp="1"/>
          </p:cNvSpPr>
          <p:nvPr/>
        </p:nvSpPr>
        <p:spPr>
          <a:xfrm>
            <a:off x="851165" y="59268"/>
            <a:ext cx="11148461" cy="11795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Avenir Next LT Pro" panose="020B0504020202020204" pitchFamily="34" charset="0"/>
              </a:rPr>
              <a:t>How to check the accuracy 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BB3A46-799D-74F8-88CC-A6DD0A79C80D}"/>
              </a:ext>
            </a:extLst>
          </p:cNvPr>
          <p:cNvSpPr/>
          <p:nvPr/>
        </p:nvSpPr>
        <p:spPr>
          <a:xfrm>
            <a:off x="520514" y="407430"/>
            <a:ext cx="207619" cy="464685"/>
          </a:xfrm>
          <a:prstGeom prst="rect">
            <a:avLst/>
          </a:prstGeom>
          <a:solidFill>
            <a:srgbClr val="F5A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63797C3-6CD2-FC16-BF01-6EFFBBF4629B}"/>
              </a:ext>
            </a:extLst>
          </p:cNvPr>
          <p:cNvSpPr txBox="1"/>
          <p:nvPr/>
        </p:nvSpPr>
        <p:spPr>
          <a:xfrm>
            <a:off x="3759923" y="1238781"/>
            <a:ext cx="86916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200" dirty="0"/>
              <a:t>Reference ?</a:t>
            </a:r>
            <a:r>
              <a:rPr lang="fr-FR" dirty="0"/>
              <a:t> </a:t>
            </a:r>
            <a:endParaRPr lang="en-GB" dirty="0"/>
          </a:p>
        </p:txBody>
      </p:sp>
      <p:pic>
        <p:nvPicPr>
          <p:cNvPr id="21" name="Picture 24">
            <a:extLst>
              <a:ext uri="{FF2B5EF4-FFF2-40B4-BE49-F238E27FC236}">
                <a16:creationId xmlns:a16="http://schemas.microsoft.com/office/drawing/2014/main" id="{9058B594-4489-37AA-9CF1-E9EDB2EEEB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0" t="51377" r="64651" b="31060"/>
          <a:stretch>
            <a:fillRect/>
          </a:stretch>
        </p:blipFill>
        <p:spPr bwMode="auto">
          <a:xfrm>
            <a:off x="5034017" y="1238780"/>
            <a:ext cx="1291506" cy="430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BBC74506-A42E-3920-4C43-EE377281AD7A}"/>
              </a:ext>
            </a:extLst>
          </p:cNvPr>
          <p:cNvSpPr txBox="1"/>
          <p:nvPr/>
        </p:nvSpPr>
        <p:spPr>
          <a:xfrm>
            <a:off x="6325523" y="1238780"/>
            <a:ext cx="86916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200" dirty="0"/>
              <a:t>Not computable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8545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F2D56-6FF6-FA85-B0F1-5EE05B93A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2D305833-76AB-B11A-FD2E-1649FB7781CA}"/>
              </a:ext>
            </a:extLst>
          </p:cNvPr>
          <p:cNvSpPr>
            <a:spLocks noGrp="1"/>
          </p:cNvSpPr>
          <p:nvPr/>
        </p:nvSpPr>
        <p:spPr>
          <a:xfrm>
            <a:off x="851165" y="59268"/>
            <a:ext cx="11148461" cy="11795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Avenir Next LT Pro" panose="020B0504020202020204" pitchFamily="34" charset="0"/>
              </a:rPr>
              <a:t>How to check the accuracy 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B98E491-A3CC-CCAC-EAEB-0CE2C7710442}"/>
              </a:ext>
            </a:extLst>
          </p:cNvPr>
          <p:cNvSpPr/>
          <p:nvPr/>
        </p:nvSpPr>
        <p:spPr>
          <a:xfrm>
            <a:off x="520514" y="407430"/>
            <a:ext cx="207619" cy="464685"/>
          </a:xfrm>
          <a:prstGeom prst="rect">
            <a:avLst/>
          </a:prstGeom>
          <a:solidFill>
            <a:srgbClr val="F5A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0A9DC5FC-BFB0-6281-870D-ED92F4242674}"/>
              </a:ext>
            </a:extLst>
          </p:cNvPr>
          <p:cNvSpPr txBox="1"/>
          <p:nvPr/>
        </p:nvSpPr>
        <p:spPr>
          <a:xfrm>
            <a:off x="3759923" y="1238781"/>
            <a:ext cx="86916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200" dirty="0"/>
              <a:t>Reference ?</a:t>
            </a:r>
            <a:r>
              <a:rPr lang="fr-FR" dirty="0"/>
              <a:t> </a:t>
            </a:r>
            <a:endParaRPr lang="en-GB" dirty="0"/>
          </a:p>
        </p:txBody>
      </p:sp>
      <p:pic>
        <p:nvPicPr>
          <p:cNvPr id="21" name="Picture 24">
            <a:extLst>
              <a:ext uri="{FF2B5EF4-FFF2-40B4-BE49-F238E27FC236}">
                <a16:creationId xmlns:a16="http://schemas.microsoft.com/office/drawing/2014/main" id="{E3265B14-A707-9343-C27A-3C024E04AE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0" t="51377" r="64651" b="31060"/>
          <a:stretch>
            <a:fillRect/>
          </a:stretch>
        </p:blipFill>
        <p:spPr bwMode="auto">
          <a:xfrm>
            <a:off x="5034017" y="1238780"/>
            <a:ext cx="1291506" cy="430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04FA6752-2ACD-3B88-1551-F21272A8E9A5}"/>
              </a:ext>
            </a:extLst>
          </p:cNvPr>
          <p:cNvSpPr txBox="1"/>
          <p:nvPr/>
        </p:nvSpPr>
        <p:spPr>
          <a:xfrm>
            <a:off x="6325523" y="1238780"/>
            <a:ext cx="86916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200" dirty="0"/>
              <a:t>Not computable</a:t>
            </a:r>
            <a:endParaRPr lang="en-GB" dirty="0"/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A46ECCDE-9612-A005-821C-641EC5997B73}"/>
              </a:ext>
            </a:extLst>
          </p:cNvPr>
          <p:cNvCxnSpPr/>
          <p:nvPr/>
        </p:nvCxnSpPr>
        <p:spPr>
          <a:xfrm>
            <a:off x="254000" y="1871133"/>
            <a:ext cx="1157393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7" name="Image 36" descr="Une image contenant texte, ligne, Tracé, diagramme&#10;&#10;Le contenu généré par l’IA peut être incorrect.">
            <a:extLst>
              <a:ext uri="{FF2B5EF4-FFF2-40B4-BE49-F238E27FC236}">
                <a16:creationId xmlns:a16="http://schemas.microsoft.com/office/drawing/2014/main" id="{803685FC-940A-471A-A126-F39D25523A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55" y="3272367"/>
            <a:ext cx="4972205" cy="3429000"/>
          </a:xfrm>
          <a:prstGeom prst="rect">
            <a:avLst/>
          </a:prstGeom>
        </p:spPr>
      </p:pic>
      <p:sp>
        <p:nvSpPr>
          <p:cNvPr id="38" name="ZoneTexte 37">
            <a:extLst>
              <a:ext uri="{FF2B5EF4-FFF2-40B4-BE49-F238E27FC236}">
                <a16:creationId xmlns:a16="http://schemas.microsoft.com/office/drawing/2014/main" id="{65F4CB73-69B9-0469-D7E5-F2D17952A7F6}"/>
              </a:ext>
            </a:extLst>
          </p:cNvPr>
          <p:cNvSpPr txBox="1"/>
          <p:nvPr/>
        </p:nvSpPr>
        <p:spPr>
          <a:xfrm>
            <a:off x="-1258188" y="2045836"/>
            <a:ext cx="86916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200" dirty="0">
                <a:highlight>
                  <a:srgbClr val="FFFF00"/>
                </a:highlight>
              </a:rPr>
              <a:t>Check convergence </a:t>
            </a:r>
            <a:r>
              <a:rPr lang="fr-FR" sz="2200" dirty="0" err="1">
                <a:highlight>
                  <a:srgbClr val="FFFF00"/>
                </a:highlight>
              </a:rPr>
              <a:t>toward</a:t>
            </a:r>
            <a:r>
              <a:rPr lang="fr-FR" sz="2200" dirty="0">
                <a:highlight>
                  <a:srgbClr val="FFFF00"/>
                </a:highlight>
              </a:rPr>
              <a:t> </a:t>
            </a:r>
            <a:r>
              <a:rPr lang="fr-FR" sz="2200" dirty="0" err="1">
                <a:highlight>
                  <a:srgbClr val="FFFF00"/>
                </a:highlight>
              </a:rPr>
              <a:t>eigenvalue</a:t>
            </a:r>
            <a:r>
              <a:rPr lang="fr-FR" sz="2200" dirty="0">
                <a:highlight>
                  <a:srgbClr val="FFFF00"/>
                </a:highlight>
              </a:rPr>
              <a:t> : Variance</a:t>
            </a:r>
            <a:endParaRPr lang="en-GB" dirty="0">
              <a:highlight>
                <a:srgbClr val="FFFF00"/>
              </a:highlight>
            </a:endParaRPr>
          </a:p>
        </p:txBody>
      </p:sp>
      <p:pic>
        <p:nvPicPr>
          <p:cNvPr id="10255" name="Picture 15">
            <a:extLst>
              <a:ext uri="{FF2B5EF4-FFF2-40B4-BE49-F238E27FC236}">
                <a16:creationId xmlns:a16="http://schemas.microsoft.com/office/drawing/2014/main" id="{34B30FB2-F6C0-802D-31E8-D6D2353883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235" y="2606275"/>
            <a:ext cx="4698244" cy="389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2827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32D5A-B525-9923-A39B-CB8709497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C00352D5-9631-BDB8-6973-C160D79F3B58}"/>
              </a:ext>
            </a:extLst>
          </p:cNvPr>
          <p:cNvSpPr>
            <a:spLocks noGrp="1"/>
          </p:cNvSpPr>
          <p:nvPr/>
        </p:nvSpPr>
        <p:spPr>
          <a:xfrm>
            <a:off x="851165" y="59268"/>
            <a:ext cx="11148461" cy="11795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Avenir Next LT Pro" panose="020B0504020202020204" pitchFamily="34" charset="0"/>
              </a:rPr>
              <a:t>How to check the accuracy 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82142A1-1AC6-C750-BF13-0920B8384B53}"/>
              </a:ext>
            </a:extLst>
          </p:cNvPr>
          <p:cNvSpPr/>
          <p:nvPr/>
        </p:nvSpPr>
        <p:spPr>
          <a:xfrm>
            <a:off x="520514" y="407430"/>
            <a:ext cx="207619" cy="464685"/>
          </a:xfrm>
          <a:prstGeom prst="rect">
            <a:avLst/>
          </a:prstGeom>
          <a:solidFill>
            <a:srgbClr val="F5A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B483B8F-F081-9C52-A894-05A14EB14B7A}"/>
              </a:ext>
            </a:extLst>
          </p:cNvPr>
          <p:cNvSpPr txBox="1"/>
          <p:nvPr/>
        </p:nvSpPr>
        <p:spPr>
          <a:xfrm>
            <a:off x="3759923" y="1238781"/>
            <a:ext cx="86916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200" dirty="0"/>
              <a:t>Reference ?</a:t>
            </a:r>
            <a:r>
              <a:rPr lang="fr-FR" dirty="0"/>
              <a:t> </a:t>
            </a:r>
            <a:endParaRPr lang="en-GB" dirty="0"/>
          </a:p>
        </p:txBody>
      </p:sp>
      <p:pic>
        <p:nvPicPr>
          <p:cNvPr id="21" name="Picture 24">
            <a:extLst>
              <a:ext uri="{FF2B5EF4-FFF2-40B4-BE49-F238E27FC236}">
                <a16:creationId xmlns:a16="http://schemas.microsoft.com/office/drawing/2014/main" id="{5A5A55DB-0FAB-42A6-A2AE-FCF35D7133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0" t="51377" r="64651" b="31060"/>
          <a:stretch>
            <a:fillRect/>
          </a:stretch>
        </p:blipFill>
        <p:spPr bwMode="auto">
          <a:xfrm>
            <a:off x="5034017" y="1238780"/>
            <a:ext cx="1291506" cy="430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3186674A-FF2B-72FA-2A85-0A9CE61EDACC}"/>
              </a:ext>
            </a:extLst>
          </p:cNvPr>
          <p:cNvSpPr txBox="1"/>
          <p:nvPr/>
        </p:nvSpPr>
        <p:spPr>
          <a:xfrm>
            <a:off x="6325523" y="1238780"/>
            <a:ext cx="86916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200" dirty="0"/>
              <a:t>Not computable</a:t>
            </a:r>
            <a:endParaRPr lang="en-GB" dirty="0"/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C7323388-F057-0E41-BD60-FEA31E1CF1F3}"/>
              </a:ext>
            </a:extLst>
          </p:cNvPr>
          <p:cNvCxnSpPr/>
          <p:nvPr/>
        </p:nvCxnSpPr>
        <p:spPr>
          <a:xfrm>
            <a:off x="254000" y="1871133"/>
            <a:ext cx="1157393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DED5590D-B07D-850A-B51A-FF8E0569A7A2}"/>
              </a:ext>
            </a:extLst>
          </p:cNvPr>
          <p:cNvCxnSpPr>
            <a:cxnSpLocks/>
          </p:cNvCxnSpPr>
          <p:nvPr/>
        </p:nvCxnSpPr>
        <p:spPr>
          <a:xfrm>
            <a:off x="6240380" y="2208018"/>
            <a:ext cx="0" cy="38462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7" name="Image 36" descr="Une image contenant texte, ligne, Tracé, diagramme&#10;&#10;Le contenu généré par l’IA peut être incorrect.">
            <a:extLst>
              <a:ext uri="{FF2B5EF4-FFF2-40B4-BE49-F238E27FC236}">
                <a16:creationId xmlns:a16="http://schemas.microsoft.com/office/drawing/2014/main" id="{284BE24A-9575-A523-B6AA-5442CF8F1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55" y="3272367"/>
            <a:ext cx="4972205" cy="3429000"/>
          </a:xfrm>
          <a:prstGeom prst="rect">
            <a:avLst/>
          </a:prstGeom>
        </p:spPr>
      </p:pic>
      <p:sp>
        <p:nvSpPr>
          <p:cNvPr id="38" name="ZoneTexte 37">
            <a:extLst>
              <a:ext uri="{FF2B5EF4-FFF2-40B4-BE49-F238E27FC236}">
                <a16:creationId xmlns:a16="http://schemas.microsoft.com/office/drawing/2014/main" id="{A2433291-E941-1CAF-AF2A-F7C5D836C8D4}"/>
              </a:ext>
            </a:extLst>
          </p:cNvPr>
          <p:cNvSpPr txBox="1"/>
          <p:nvPr/>
        </p:nvSpPr>
        <p:spPr>
          <a:xfrm>
            <a:off x="-1258188" y="2045836"/>
            <a:ext cx="86916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200" dirty="0">
                <a:highlight>
                  <a:srgbClr val="FFFF00"/>
                </a:highlight>
              </a:rPr>
              <a:t>Check convergence </a:t>
            </a:r>
            <a:r>
              <a:rPr lang="fr-FR" sz="2200" dirty="0" err="1">
                <a:highlight>
                  <a:srgbClr val="FFFF00"/>
                </a:highlight>
              </a:rPr>
              <a:t>toward</a:t>
            </a:r>
            <a:r>
              <a:rPr lang="fr-FR" sz="2200" dirty="0">
                <a:highlight>
                  <a:srgbClr val="FFFF00"/>
                </a:highlight>
              </a:rPr>
              <a:t> </a:t>
            </a:r>
            <a:r>
              <a:rPr lang="fr-FR" sz="2200" dirty="0" err="1">
                <a:highlight>
                  <a:srgbClr val="FFFF00"/>
                </a:highlight>
              </a:rPr>
              <a:t>eigenvalue</a:t>
            </a:r>
            <a:r>
              <a:rPr lang="fr-FR" sz="2200" dirty="0">
                <a:highlight>
                  <a:srgbClr val="FFFF00"/>
                </a:highlight>
              </a:rPr>
              <a:t> : Variance</a:t>
            </a:r>
            <a:endParaRPr lang="en-GB" dirty="0">
              <a:highlight>
                <a:srgbClr val="FFFF00"/>
              </a:highlight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4A61288C-5D39-113E-F120-27F3A22008A3}"/>
              </a:ext>
            </a:extLst>
          </p:cNvPr>
          <p:cNvSpPr txBox="1"/>
          <p:nvPr/>
        </p:nvSpPr>
        <p:spPr>
          <a:xfrm>
            <a:off x="4698242" y="2060966"/>
            <a:ext cx="86916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200" dirty="0">
                <a:highlight>
                  <a:srgbClr val="FFFF00"/>
                </a:highlight>
              </a:rPr>
              <a:t>Check if </a:t>
            </a:r>
            <a:r>
              <a:rPr lang="fr-FR" sz="2200" dirty="0" err="1">
                <a:highlight>
                  <a:srgbClr val="FFFF00"/>
                </a:highlight>
              </a:rPr>
              <a:t>didn’t</a:t>
            </a:r>
            <a:r>
              <a:rPr lang="fr-FR" sz="2200" dirty="0">
                <a:highlight>
                  <a:srgbClr val="FFFF00"/>
                </a:highlight>
              </a:rPr>
              <a:t> jump : </a:t>
            </a:r>
            <a:r>
              <a:rPr lang="fr-FR" sz="2200" dirty="0" err="1">
                <a:highlight>
                  <a:srgbClr val="FFFF00"/>
                </a:highlight>
              </a:rPr>
              <a:t>Overlap</a:t>
            </a:r>
            <a:endParaRPr lang="en-GB" dirty="0">
              <a:highlight>
                <a:srgbClr val="FFFF00"/>
              </a:highlight>
            </a:endParaRPr>
          </a:p>
        </p:txBody>
      </p:sp>
      <p:pic>
        <p:nvPicPr>
          <p:cNvPr id="41" name="Image 40">
            <a:extLst>
              <a:ext uri="{FF2B5EF4-FFF2-40B4-BE49-F238E27FC236}">
                <a16:creationId xmlns:a16="http://schemas.microsoft.com/office/drawing/2014/main" id="{BB4B338B-C67E-7828-7FA5-9F11A4D48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947" y="3272367"/>
            <a:ext cx="4972205" cy="3429000"/>
          </a:xfrm>
          <a:prstGeom prst="rect">
            <a:avLst/>
          </a:prstGeom>
        </p:spPr>
      </p:pic>
      <p:pic>
        <p:nvPicPr>
          <p:cNvPr id="10253" name="Picture 13">
            <a:extLst>
              <a:ext uri="{FF2B5EF4-FFF2-40B4-BE49-F238E27FC236}">
                <a16:creationId xmlns:a16="http://schemas.microsoft.com/office/drawing/2014/main" id="{DF81BA71-5D8C-68BB-F8A7-6C918EE45C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1273" y="2654151"/>
            <a:ext cx="1785550" cy="310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5" name="Picture 15">
            <a:extLst>
              <a:ext uri="{FF2B5EF4-FFF2-40B4-BE49-F238E27FC236}">
                <a16:creationId xmlns:a16="http://schemas.microsoft.com/office/drawing/2014/main" id="{804EEC7F-051C-3BF6-0A17-B2A748BD6E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235" y="2606275"/>
            <a:ext cx="4698244" cy="389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00580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9AF9-8A75-4B5A-BDAC-BDF722B64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BF6EBE1B-028E-581B-BA25-0FD4815E791C}"/>
              </a:ext>
            </a:extLst>
          </p:cNvPr>
          <p:cNvSpPr>
            <a:spLocks noGrp="1"/>
          </p:cNvSpPr>
          <p:nvPr/>
        </p:nvSpPr>
        <p:spPr>
          <a:xfrm>
            <a:off x="851165" y="59268"/>
            <a:ext cx="11148461" cy="11795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Avenir Next LT Pro" panose="020B0504020202020204" pitchFamily="34" charset="0"/>
              </a:rPr>
              <a:t>The shift parameter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202818A-F9F7-BB55-DCD9-7530BD1FE67A}"/>
              </a:ext>
            </a:extLst>
          </p:cNvPr>
          <p:cNvSpPr/>
          <p:nvPr/>
        </p:nvSpPr>
        <p:spPr>
          <a:xfrm>
            <a:off x="520514" y="407430"/>
            <a:ext cx="207619" cy="464685"/>
          </a:xfrm>
          <a:prstGeom prst="rect">
            <a:avLst/>
          </a:prstGeom>
          <a:solidFill>
            <a:srgbClr val="F5A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322FA2D7-DF6E-3617-48D3-A1C11E12B5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179931" y="1127218"/>
            <a:ext cx="7832137" cy="379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8" name="Picture 8">
            <a:extLst>
              <a:ext uri="{FF2B5EF4-FFF2-40B4-BE49-F238E27FC236}">
                <a16:creationId xmlns:a16="http://schemas.microsoft.com/office/drawing/2014/main" id="{F0AD3E13-45F6-C6A3-D806-DD73FE3FEA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5542" y="1775313"/>
            <a:ext cx="5320915" cy="315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 2" descr="Une image contenant texte, diagramme, ligne, Tracé&#10;&#10;Le contenu généré par l’IA peut être incorrect.">
            <a:extLst>
              <a:ext uri="{FF2B5EF4-FFF2-40B4-BE49-F238E27FC236}">
                <a16:creationId xmlns:a16="http://schemas.microsoft.com/office/drawing/2014/main" id="{FE2D8F68-0874-2C5A-F1CE-5403D1F8779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6622"/>
          <a:stretch>
            <a:fillRect/>
          </a:stretch>
        </p:blipFill>
        <p:spPr>
          <a:xfrm>
            <a:off x="6425395" y="6191628"/>
            <a:ext cx="6863024" cy="231655"/>
          </a:xfrm>
          <a:prstGeom prst="rect">
            <a:avLst/>
          </a:prstGeom>
        </p:spPr>
      </p:pic>
      <p:pic>
        <p:nvPicPr>
          <p:cNvPr id="4" name="Image 3" descr="Une image contenant texte, diagramme, ligne, Tracé&#10;&#10;Le contenu généré par l’IA peut être incorrect.">
            <a:extLst>
              <a:ext uri="{FF2B5EF4-FFF2-40B4-BE49-F238E27FC236}">
                <a16:creationId xmlns:a16="http://schemas.microsoft.com/office/drawing/2014/main" id="{23FA0098-D374-A0B7-C90D-FBDF5F8B17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3261"/>
          <a:stretch>
            <a:fillRect/>
          </a:stretch>
        </p:blipFill>
        <p:spPr>
          <a:xfrm>
            <a:off x="207619" y="3251486"/>
            <a:ext cx="5786203" cy="2702464"/>
          </a:xfrm>
          <a:prstGeom prst="rect">
            <a:avLst/>
          </a:prstGeom>
        </p:spPr>
      </p:pic>
      <p:pic>
        <p:nvPicPr>
          <p:cNvPr id="6" name="Image 5" descr="Une image contenant texte, diagramme, ligne, Tracé&#10;&#10;Le contenu généré par l’IA peut être incorrect.">
            <a:extLst>
              <a:ext uri="{FF2B5EF4-FFF2-40B4-BE49-F238E27FC236}">
                <a16:creationId xmlns:a16="http://schemas.microsoft.com/office/drawing/2014/main" id="{4905B3F4-05B4-81DA-80AC-C89C1BE0E9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6521" r="7162" b="3087"/>
          <a:stretch>
            <a:fillRect/>
          </a:stretch>
        </p:blipFill>
        <p:spPr>
          <a:xfrm>
            <a:off x="6845273" y="3251486"/>
            <a:ext cx="5214314" cy="2828255"/>
          </a:xfrm>
          <a:prstGeom prst="rect">
            <a:avLst/>
          </a:prstGeom>
        </p:spPr>
      </p:pic>
      <p:pic>
        <p:nvPicPr>
          <p:cNvPr id="7" name="Image 6" descr="Une image contenant texte, diagramme, ligne, Tracé&#10;&#10;Le contenu généré par l’IA peut être incorrect.">
            <a:extLst>
              <a:ext uri="{FF2B5EF4-FFF2-40B4-BE49-F238E27FC236}">
                <a16:creationId xmlns:a16="http://schemas.microsoft.com/office/drawing/2014/main" id="{1B2D5D70-E5DB-0A16-7B21-E01F8FA92F9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6622"/>
          <a:stretch>
            <a:fillRect/>
          </a:stretch>
        </p:blipFill>
        <p:spPr>
          <a:xfrm>
            <a:off x="-330792" y="6259865"/>
            <a:ext cx="6863024" cy="231655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45345885-D258-B030-4232-A9822BA1C668}"/>
              </a:ext>
            </a:extLst>
          </p:cNvPr>
          <p:cNvSpPr txBox="1"/>
          <p:nvPr/>
        </p:nvSpPr>
        <p:spPr>
          <a:xfrm>
            <a:off x="444441" y="2251860"/>
            <a:ext cx="20439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 err="1">
                <a:solidFill>
                  <a:srgbClr val="FF0000"/>
                </a:solidFill>
              </a:rPr>
              <a:t>Numerical</a:t>
            </a:r>
            <a:r>
              <a:rPr lang="fr-FR" sz="1600" dirty="0">
                <a:solidFill>
                  <a:srgbClr val="FF0000"/>
                </a:solidFill>
              </a:rPr>
              <a:t> </a:t>
            </a:r>
            <a:r>
              <a:rPr lang="fr-FR" sz="1600" dirty="0" err="1">
                <a:solidFill>
                  <a:srgbClr val="FF0000"/>
                </a:solidFill>
              </a:rPr>
              <a:t>error</a:t>
            </a:r>
            <a:r>
              <a:rPr lang="fr-FR" sz="1600" dirty="0">
                <a:solidFill>
                  <a:srgbClr val="FF0000"/>
                </a:solidFill>
              </a:rPr>
              <a:t> : shift </a:t>
            </a:r>
            <a:r>
              <a:rPr lang="fr-FR" sz="1600" dirty="0" err="1">
                <a:solidFill>
                  <a:srgbClr val="FF0000"/>
                </a:solidFill>
              </a:rPr>
              <a:t>too</a:t>
            </a:r>
            <a:r>
              <a:rPr lang="fr-FR" sz="1600" dirty="0">
                <a:solidFill>
                  <a:srgbClr val="FF0000"/>
                </a:solidFill>
              </a:rPr>
              <a:t> </a:t>
            </a:r>
            <a:r>
              <a:rPr lang="fr-FR" sz="1600" dirty="0" err="1">
                <a:solidFill>
                  <a:srgbClr val="FF0000"/>
                </a:solidFill>
              </a:rPr>
              <a:t>small</a:t>
            </a:r>
            <a:endParaRPr lang="en-GB" sz="1600" dirty="0">
              <a:solidFill>
                <a:srgbClr val="FF0000"/>
              </a:solidFill>
            </a:endParaRP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A6D70597-575A-17DC-E397-71476A831F1C}"/>
              </a:ext>
            </a:extLst>
          </p:cNvPr>
          <p:cNvCxnSpPr>
            <a:cxnSpLocks/>
          </p:cNvCxnSpPr>
          <p:nvPr/>
        </p:nvCxnSpPr>
        <p:spPr>
          <a:xfrm>
            <a:off x="1161738" y="2900597"/>
            <a:ext cx="0" cy="7195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Image 11" descr="Une image contenant texte, diagramme, ligne, Tracé&#10;&#10;Le contenu généré par l’IA peut être incorrect.">
            <a:extLst>
              <a:ext uri="{FF2B5EF4-FFF2-40B4-BE49-F238E27FC236}">
                <a16:creationId xmlns:a16="http://schemas.microsoft.com/office/drawing/2014/main" id="{7C524DBD-7FAB-11F1-02B4-E51EFB027A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3413" r="7162" b="3087"/>
          <a:stretch>
            <a:fillRect/>
          </a:stretch>
        </p:blipFill>
        <p:spPr>
          <a:xfrm>
            <a:off x="300540" y="5943433"/>
            <a:ext cx="5214314" cy="196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6485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9A150-5619-1EBC-57E5-DAB984184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7433C0B9-08BD-098B-2C75-4AFCCE842673}"/>
              </a:ext>
            </a:extLst>
          </p:cNvPr>
          <p:cNvSpPr/>
          <p:nvPr/>
        </p:nvSpPr>
        <p:spPr>
          <a:xfrm>
            <a:off x="520514" y="407430"/>
            <a:ext cx="207619" cy="464685"/>
          </a:xfrm>
          <a:prstGeom prst="rect">
            <a:avLst/>
          </a:prstGeom>
          <a:solidFill>
            <a:srgbClr val="F5A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 2" descr="Une image contenant ligne, capture d’écran, Tracé, texte&#10;&#10;Le contenu généré par l’IA peut être incorrect.">
            <a:extLst>
              <a:ext uri="{FF2B5EF4-FFF2-40B4-BE49-F238E27FC236}">
                <a16:creationId xmlns:a16="http://schemas.microsoft.com/office/drawing/2014/main" id="{2B92F0EB-D066-188C-B79D-EB950B10DC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9756" y="3137835"/>
            <a:ext cx="5285871" cy="3171523"/>
          </a:xfrm>
          <a:prstGeom prst="rect">
            <a:avLst/>
          </a:prstGeom>
        </p:spPr>
      </p:pic>
      <p:pic>
        <p:nvPicPr>
          <p:cNvPr id="6" name="Image 5" descr="Une image contenant texte, ligne, diagramme, Tracé&#10;&#10;Le contenu généré par l’IA peut être incorrect.">
            <a:extLst>
              <a:ext uri="{FF2B5EF4-FFF2-40B4-BE49-F238E27FC236}">
                <a16:creationId xmlns:a16="http://schemas.microsoft.com/office/drawing/2014/main" id="{D2EE50B2-6781-00EA-FE4D-6C4FA6C2FA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932" r="15306"/>
          <a:stretch>
            <a:fillRect/>
          </a:stretch>
        </p:blipFill>
        <p:spPr>
          <a:xfrm>
            <a:off x="152438" y="3206870"/>
            <a:ext cx="5343588" cy="3033452"/>
          </a:xfrm>
          <a:prstGeom prst="rect">
            <a:avLst/>
          </a:prstGeom>
        </p:spPr>
      </p:pic>
      <p:pic>
        <p:nvPicPr>
          <p:cNvPr id="12292" name="Picture 4">
            <a:extLst>
              <a:ext uri="{FF2B5EF4-FFF2-40B4-BE49-F238E27FC236}">
                <a16:creationId xmlns:a16="http://schemas.microsoft.com/office/drawing/2014/main" id="{AE78BDF8-617F-8B08-4707-A9E7442B01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472" y="417369"/>
            <a:ext cx="5436704" cy="509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201A854B-6F67-E892-6EA2-1156DFA4284D}"/>
              </a:ext>
            </a:extLst>
          </p:cNvPr>
          <p:cNvGrpSpPr/>
          <p:nvPr/>
        </p:nvGrpSpPr>
        <p:grpSpPr>
          <a:xfrm>
            <a:off x="675667" y="1416570"/>
            <a:ext cx="7148659" cy="1137090"/>
            <a:chOff x="728133" y="1403824"/>
            <a:chExt cx="7558634" cy="1202302"/>
          </a:xfrm>
        </p:grpSpPr>
        <p:pic>
          <p:nvPicPr>
            <p:cNvPr id="12296" name="Picture 8">
              <a:extLst>
                <a:ext uri="{FF2B5EF4-FFF2-40B4-BE49-F238E27FC236}">
                  <a16:creationId xmlns:a16="http://schemas.microsoft.com/office/drawing/2014/main" id="{A1773C14-80B9-80F1-3F98-6260C35B57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728134" y="1403824"/>
              <a:ext cx="6318709" cy="3759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64AD6597-18A5-5337-A382-A65000748355}"/>
                </a:ext>
              </a:extLst>
            </p:cNvPr>
            <p:cNvSpPr txBox="1"/>
            <p:nvPr/>
          </p:nvSpPr>
          <p:spPr>
            <a:xfrm>
              <a:off x="3011557" y="1691497"/>
              <a:ext cx="964095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3000" b="1" dirty="0"/>
                <a:t>…</a:t>
              </a:r>
              <a:endParaRPr lang="en-GB" sz="3000" b="1" dirty="0"/>
            </a:p>
          </p:txBody>
        </p:sp>
        <p:pic>
          <p:nvPicPr>
            <p:cNvPr id="12300" name="Picture 12">
              <a:extLst>
                <a:ext uri="{FF2B5EF4-FFF2-40B4-BE49-F238E27FC236}">
                  <a16:creationId xmlns:a16="http://schemas.microsoft.com/office/drawing/2014/main" id="{69151FCA-E531-0798-9DCE-AD6510FBDBD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8133" y="2230163"/>
              <a:ext cx="7558634" cy="3759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AF51C04D-8ED9-5FC3-956B-9700AF4A9509}"/>
              </a:ext>
            </a:extLst>
          </p:cNvPr>
          <p:cNvSpPr/>
          <p:nvPr/>
        </p:nvSpPr>
        <p:spPr>
          <a:xfrm>
            <a:off x="8072202" y="1552626"/>
            <a:ext cx="142563" cy="854439"/>
          </a:xfrm>
          <a:custGeom>
            <a:avLst/>
            <a:gdLst>
              <a:gd name="csX0" fmla="*/ 0 w 389903"/>
              <a:gd name="csY0" fmla="*/ 0 h 854439"/>
              <a:gd name="csX1" fmla="*/ 389745 w 389903"/>
              <a:gd name="csY1" fmla="*/ 442210 h 854439"/>
              <a:gd name="csX2" fmla="*/ 37476 w 389903"/>
              <a:gd name="csY2" fmla="*/ 854439 h 8544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9903" h="854439">
                <a:moveTo>
                  <a:pt x="0" y="0"/>
                </a:moveTo>
                <a:cubicBezTo>
                  <a:pt x="191749" y="149902"/>
                  <a:pt x="383499" y="299804"/>
                  <a:pt x="389745" y="442210"/>
                </a:cubicBezTo>
                <a:cubicBezTo>
                  <a:pt x="395991" y="584617"/>
                  <a:pt x="216733" y="719528"/>
                  <a:pt x="37476" y="854439"/>
                </a:cubicBezTo>
              </a:path>
            </a:pathLst>
          </a:custGeom>
          <a:noFill/>
          <a:ln w="28575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2304" name="Picture 16">
            <a:extLst>
              <a:ext uri="{FF2B5EF4-FFF2-40B4-BE49-F238E27FC236}">
                <a16:creationId xmlns:a16="http://schemas.microsoft.com/office/drawing/2014/main" id="{459C9097-9F4D-0F31-DC60-CB40AB716D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4841" y="1594355"/>
            <a:ext cx="2638113" cy="6846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94579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329CD-0C31-0125-6648-8372C100A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9E0CF73D-26F6-12FE-57F9-198A15624A00}"/>
              </a:ext>
            </a:extLst>
          </p:cNvPr>
          <p:cNvSpPr>
            <a:spLocks noGrp="1"/>
          </p:cNvSpPr>
          <p:nvPr/>
        </p:nvSpPr>
        <p:spPr>
          <a:xfrm>
            <a:off x="851165" y="59268"/>
            <a:ext cx="11148461" cy="11795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Avenir Next LT Pro" panose="020B0504020202020204" pitchFamily="34" charset="0"/>
              </a:rPr>
              <a:t>Shift invert versus Lanczos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410372-0036-AFA8-D774-9B1A0CE10A0B}"/>
              </a:ext>
            </a:extLst>
          </p:cNvPr>
          <p:cNvSpPr/>
          <p:nvPr/>
        </p:nvSpPr>
        <p:spPr>
          <a:xfrm>
            <a:off x="520514" y="407430"/>
            <a:ext cx="207619" cy="464685"/>
          </a:xfrm>
          <a:prstGeom prst="rect">
            <a:avLst/>
          </a:prstGeom>
          <a:solidFill>
            <a:srgbClr val="F5A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 2" descr="Une image contenant texte, ligne, Tracé, diagramme&#10;&#10;Le contenu généré par l’IA peut être incorrect.">
            <a:extLst>
              <a:ext uri="{FF2B5EF4-FFF2-40B4-BE49-F238E27FC236}">
                <a16:creationId xmlns:a16="http://schemas.microsoft.com/office/drawing/2014/main" id="{426CB023-E9C7-6957-F8EC-8367042D7F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7733"/>
          <a:stretch>
            <a:fillRect/>
          </a:stretch>
        </p:blipFill>
        <p:spPr>
          <a:xfrm>
            <a:off x="559590" y="1418283"/>
            <a:ext cx="11072820" cy="2134387"/>
          </a:xfrm>
          <a:prstGeom prst="rect">
            <a:avLst/>
          </a:prstGeom>
        </p:spPr>
      </p:pic>
      <p:pic>
        <p:nvPicPr>
          <p:cNvPr id="5" name="Image 4" descr="Une image contenant texte, ligne, Tracé, diagramme&#10;&#10;Le contenu généré par l’IA peut être incorrect.">
            <a:extLst>
              <a:ext uri="{FF2B5EF4-FFF2-40B4-BE49-F238E27FC236}">
                <a16:creationId xmlns:a16="http://schemas.microsoft.com/office/drawing/2014/main" id="{5863E45C-4987-7768-96BE-EEC1BE3205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614"/>
          <a:stretch>
            <a:fillRect/>
          </a:stretch>
        </p:blipFill>
        <p:spPr>
          <a:xfrm>
            <a:off x="559590" y="3732172"/>
            <a:ext cx="11072820" cy="253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5940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6D3050F-D519-CCD0-B1C8-D7ECE133DD22}"/>
              </a:ext>
            </a:extLst>
          </p:cNvPr>
          <p:cNvSpPr>
            <a:spLocks noGrp="1"/>
          </p:cNvSpPr>
          <p:nvPr/>
        </p:nvSpPr>
        <p:spPr>
          <a:xfrm>
            <a:off x="521769" y="2929466"/>
            <a:ext cx="11148461" cy="11795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500" dirty="0" err="1">
                <a:latin typeface="Avenir Next LT Pro" panose="020B0504020202020204" pitchFamily="34" charset="0"/>
              </a:rPr>
              <a:t>Annexe</a:t>
            </a:r>
            <a:endParaRPr lang="en-US" sz="3500" dirty="0">
              <a:latin typeface="Avenir Next LT Pro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059E8C-B9FE-9D1D-6567-1EAB1FD2D27F}"/>
              </a:ext>
            </a:extLst>
          </p:cNvPr>
          <p:cNvSpPr/>
          <p:nvPr/>
        </p:nvSpPr>
        <p:spPr>
          <a:xfrm>
            <a:off x="4932451" y="3286879"/>
            <a:ext cx="207619" cy="464685"/>
          </a:xfrm>
          <a:prstGeom prst="rect">
            <a:avLst/>
          </a:prstGeom>
          <a:solidFill>
            <a:srgbClr val="F5A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127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35E15-67B8-B8E7-4273-373D52199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7C86CAAB-78CA-DB14-D391-DCAF69487DA7}"/>
              </a:ext>
            </a:extLst>
          </p:cNvPr>
          <p:cNvSpPr>
            <a:spLocks noGrp="1"/>
          </p:cNvSpPr>
          <p:nvPr/>
        </p:nvSpPr>
        <p:spPr>
          <a:xfrm>
            <a:off x="851165" y="59268"/>
            <a:ext cx="11148461" cy="11795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latin typeface="Avenir Next LT Pro" panose="020B0504020202020204" pitchFamily="34" charset="0"/>
              </a:rPr>
              <a:t>The power algorithm : Find the dominant eigenspace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E922D1-507A-9583-E558-0306AA0D0937}"/>
              </a:ext>
            </a:extLst>
          </p:cNvPr>
          <p:cNvSpPr/>
          <p:nvPr/>
        </p:nvSpPr>
        <p:spPr>
          <a:xfrm>
            <a:off x="520514" y="407430"/>
            <a:ext cx="207619" cy="464685"/>
          </a:xfrm>
          <a:prstGeom prst="rect">
            <a:avLst/>
          </a:prstGeom>
          <a:solidFill>
            <a:srgbClr val="F5A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7413E5F-D716-BE8A-8690-92DC7D48C3C7}"/>
              </a:ext>
            </a:extLst>
          </p:cNvPr>
          <p:cNvSpPr txBox="1"/>
          <p:nvPr/>
        </p:nvSpPr>
        <p:spPr>
          <a:xfrm>
            <a:off x="4238324" y="1238781"/>
            <a:ext cx="37153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GB" sz="2200" u="sng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9D103D9-ADA9-9A56-C4CD-CAD5D6AE1B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165" y="1401758"/>
            <a:ext cx="4939906" cy="4865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23DFAB10-97AE-DE55-21EF-7F8D16FCE3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252955"/>
            <a:ext cx="4939907" cy="352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215777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2152</TotalTime>
  <Words>265</Words>
  <Application>Microsoft Office PowerPoint</Application>
  <PresentationFormat>Grand écran</PresentationFormat>
  <Paragraphs>81</Paragraphs>
  <Slides>20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Avenir Next LT Pro</vt:lpstr>
      <vt:lpstr>Cambria Math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Eliot Delachaux</dc:creator>
  <cp:lastModifiedBy>Eliot Delachaux</cp:lastModifiedBy>
  <cp:revision>6</cp:revision>
  <dcterms:created xsi:type="dcterms:W3CDTF">2026-02-03T13:20:51Z</dcterms:created>
  <dcterms:modified xsi:type="dcterms:W3CDTF">2026-02-05T01:14:05Z</dcterms:modified>
</cp:coreProperties>
</file>